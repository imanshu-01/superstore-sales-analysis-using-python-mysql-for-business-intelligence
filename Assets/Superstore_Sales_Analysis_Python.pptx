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5" r:id="rId1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6685" y="1041893"/>
            <a:ext cx="631285" cy="487679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4765559" y="7841665"/>
            <a:ext cx="6334125" cy="0"/>
          </a:xfrm>
          <a:custGeom>
            <a:avLst/>
            <a:gdLst/>
            <a:ahLst/>
            <a:cxnLst/>
            <a:rect l="l" t="t" r="r" b="b"/>
            <a:pathLst>
              <a:path w="6334125">
                <a:moveTo>
                  <a:pt x="0" y="0"/>
                </a:moveTo>
                <a:lnTo>
                  <a:pt x="6334130" y="0"/>
                </a:lnTo>
              </a:path>
            </a:pathLst>
          </a:custGeom>
          <a:ln w="666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1181" y="1241451"/>
            <a:ext cx="12846418" cy="154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960993" y="3066041"/>
            <a:ext cx="8929370" cy="5626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8.jp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4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1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3810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6685" y="1041893"/>
              <a:ext cx="631285" cy="48767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558567" y="7922447"/>
              <a:ext cx="6989445" cy="0"/>
            </a:xfrm>
            <a:custGeom>
              <a:avLst/>
              <a:gdLst/>
              <a:ahLst/>
              <a:cxnLst/>
              <a:rect l="l" t="t" r="r" b="b"/>
              <a:pathLst>
                <a:path w="6989444">
                  <a:moveTo>
                    <a:pt x="0" y="0"/>
                  </a:moveTo>
                  <a:lnTo>
                    <a:pt x="6989043" y="0"/>
                  </a:lnTo>
                </a:path>
              </a:pathLst>
            </a:custGeom>
            <a:ln w="666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21905" y="7553824"/>
              <a:ext cx="3981900" cy="73724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429463" y="8593188"/>
              <a:ext cx="293547" cy="29354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712737" y="3062301"/>
              <a:ext cx="1486495" cy="131391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8594704"/>
              <a:ext cx="1679443" cy="169229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25708" y="3269541"/>
              <a:ext cx="474271" cy="449718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52400" y="1298039"/>
            <a:ext cx="16921020" cy="186333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840355" algn="ctr">
              <a:lnSpc>
                <a:spcPct val="100000"/>
              </a:lnSpc>
              <a:spcBef>
                <a:spcPts val="130"/>
              </a:spcBef>
            </a:pPr>
            <a:r>
              <a:rPr lang="en-US" sz="6000" dirty="0"/>
              <a:t>Superstore Business Intelligence Analysis Using MySQL &amp; Python</a:t>
            </a:r>
            <a:endParaRPr sz="5850" dirty="0"/>
          </a:p>
        </p:txBody>
      </p:sp>
      <p:sp>
        <p:nvSpPr>
          <p:cNvPr id="12" name="object 12"/>
          <p:cNvSpPr txBox="1"/>
          <p:nvPr/>
        </p:nvSpPr>
        <p:spPr>
          <a:xfrm>
            <a:off x="3521905" y="4731386"/>
            <a:ext cx="10714990" cy="23942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800" b="1" spc="765" dirty="0">
                <a:solidFill>
                  <a:srgbClr val="FFFFFF"/>
                </a:solidFill>
                <a:latin typeface="Calibri"/>
                <a:cs typeface="Calibri"/>
              </a:rPr>
              <a:t>Presented</a:t>
            </a:r>
            <a:r>
              <a:rPr sz="4800" b="1" spc="3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800" b="1" spc="484" dirty="0">
                <a:solidFill>
                  <a:srgbClr val="FFFFFF"/>
                </a:solidFill>
                <a:latin typeface="Calibri"/>
                <a:cs typeface="Calibri"/>
              </a:rPr>
              <a:t>by:</a:t>
            </a:r>
            <a:endParaRPr lang="en-US" sz="4800" dirty="0">
              <a:latin typeface="Calibri"/>
              <a:cs typeface="Calibri"/>
            </a:endParaRPr>
          </a:p>
          <a:p>
            <a:pPr marL="2971165" marR="5080">
              <a:lnSpc>
                <a:spcPct val="100400"/>
              </a:lnSpc>
            </a:pPr>
            <a:r>
              <a:rPr lang="en-US" sz="4800" b="1" spc="705" dirty="0">
                <a:solidFill>
                  <a:srgbClr val="FFFFFF"/>
                </a:solidFill>
                <a:latin typeface="Calibri"/>
                <a:cs typeface="Calibri"/>
              </a:rPr>
              <a:t>1. Himanshu Patle</a:t>
            </a:r>
          </a:p>
          <a:p>
            <a:pPr marL="2971165" marR="5080">
              <a:lnSpc>
                <a:spcPct val="100400"/>
              </a:lnSpc>
            </a:pPr>
            <a:endParaRPr sz="58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447800" y="1041893"/>
            <a:ext cx="12846418" cy="1547951"/>
          </a:xfrm>
          <a:prstGeom prst="rect">
            <a:avLst/>
          </a:prstGeom>
        </p:spPr>
        <p:txBody>
          <a:bodyPr vert="horz" wrap="square" lIns="0" tIns="251565" rIns="0" bIns="0" rtlCol="0">
            <a:spAutoFit/>
          </a:bodyPr>
          <a:lstStyle/>
          <a:p>
            <a:pPr marL="4027170">
              <a:lnSpc>
                <a:spcPct val="100000"/>
              </a:lnSpc>
              <a:spcBef>
                <a:spcPts val="130"/>
              </a:spcBef>
            </a:pPr>
            <a:r>
              <a:rPr spc="720" dirty="0"/>
              <a:t>Introduction: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6685" y="1041893"/>
            <a:ext cx="631285" cy="48767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684562" y="8712271"/>
            <a:ext cx="1603435" cy="157472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548298" y="3124545"/>
            <a:ext cx="13191403" cy="4217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05740" algn="just">
              <a:lnSpc>
                <a:spcPct val="139200"/>
              </a:lnSpc>
              <a:spcBef>
                <a:spcPts val="100"/>
              </a:spcBef>
            </a:pPr>
            <a:r>
              <a:rPr sz="2200" spc="-85" dirty="0">
                <a:solidFill>
                  <a:srgbClr val="FFFFFF"/>
                </a:solidFill>
                <a:latin typeface="Arial Black"/>
                <a:cs typeface="Arial Black"/>
              </a:rPr>
              <a:t>In</a:t>
            </a:r>
            <a:r>
              <a:rPr sz="2200" spc="-12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30" dirty="0">
                <a:solidFill>
                  <a:srgbClr val="FFFFFF"/>
                </a:solidFill>
                <a:latin typeface="Arial Black"/>
                <a:cs typeface="Arial Black"/>
              </a:rPr>
              <a:t>today’s</a:t>
            </a:r>
            <a:r>
              <a:rPr sz="2200" spc="-120" dirty="0">
                <a:solidFill>
                  <a:srgbClr val="FFFFFF"/>
                </a:solidFill>
                <a:latin typeface="Arial Black"/>
                <a:cs typeface="Arial Black"/>
              </a:rPr>
              <a:t> competitive</a:t>
            </a:r>
            <a:r>
              <a:rPr sz="2200" spc="-114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85" dirty="0">
                <a:solidFill>
                  <a:srgbClr val="FFFFFF"/>
                </a:solidFill>
                <a:latin typeface="Arial Black"/>
                <a:cs typeface="Arial Black"/>
              </a:rPr>
              <a:t>retail</a:t>
            </a:r>
            <a:r>
              <a:rPr sz="2200" spc="-12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50" dirty="0">
                <a:solidFill>
                  <a:srgbClr val="FFFFFF"/>
                </a:solidFill>
                <a:latin typeface="Arial Black"/>
                <a:cs typeface="Arial Black"/>
              </a:rPr>
              <a:t>landscape,</a:t>
            </a:r>
            <a:r>
              <a:rPr sz="2200" spc="-12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00" dirty="0">
                <a:solidFill>
                  <a:srgbClr val="FFFFFF"/>
                </a:solidFill>
                <a:latin typeface="Arial Black"/>
                <a:cs typeface="Arial Black"/>
              </a:rPr>
              <a:t>understanding</a:t>
            </a:r>
            <a:r>
              <a:rPr sz="2200" spc="-114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Black"/>
                <a:cs typeface="Arial Black"/>
              </a:rPr>
              <a:t>sales </a:t>
            </a:r>
            <a:r>
              <a:rPr sz="2200" spc="-105" dirty="0">
                <a:solidFill>
                  <a:srgbClr val="FFFFFF"/>
                </a:solidFill>
                <a:latin typeface="Arial Black"/>
                <a:cs typeface="Arial Black"/>
              </a:rPr>
              <a:t>performance</a:t>
            </a:r>
            <a:r>
              <a:rPr sz="22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70" dirty="0">
                <a:solidFill>
                  <a:srgbClr val="FFFFFF"/>
                </a:solidFill>
                <a:latin typeface="Arial Black"/>
                <a:cs typeface="Arial Black"/>
              </a:rPr>
              <a:t>is</a:t>
            </a:r>
            <a:r>
              <a:rPr sz="2200" spc="-1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45" dirty="0">
                <a:solidFill>
                  <a:srgbClr val="FFFFFF"/>
                </a:solidFill>
                <a:latin typeface="Arial Black"/>
                <a:cs typeface="Arial Black"/>
              </a:rPr>
              <a:t>crucial</a:t>
            </a:r>
            <a:r>
              <a:rPr sz="2200" spc="-1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40" dirty="0">
                <a:solidFill>
                  <a:srgbClr val="FFFFFF"/>
                </a:solidFill>
                <a:latin typeface="Arial Black"/>
                <a:cs typeface="Arial Black"/>
              </a:rPr>
              <a:t>for</a:t>
            </a:r>
            <a:r>
              <a:rPr sz="2200" spc="-1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10" dirty="0">
                <a:solidFill>
                  <a:srgbClr val="FFFFFF"/>
                </a:solidFill>
                <a:latin typeface="Arial Black"/>
                <a:cs typeface="Arial Black"/>
              </a:rPr>
              <a:t>making</a:t>
            </a:r>
            <a:r>
              <a:rPr sz="2200" spc="-1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70" dirty="0">
                <a:solidFill>
                  <a:srgbClr val="FFFFFF"/>
                </a:solidFill>
                <a:latin typeface="Arial Black"/>
                <a:cs typeface="Arial Black"/>
              </a:rPr>
              <a:t>informed</a:t>
            </a:r>
            <a:r>
              <a:rPr sz="22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50" dirty="0">
                <a:solidFill>
                  <a:srgbClr val="FFFFFF"/>
                </a:solidFill>
                <a:latin typeface="Arial Black"/>
                <a:cs typeface="Arial Black"/>
              </a:rPr>
              <a:t>business</a:t>
            </a:r>
            <a:r>
              <a:rPr sz="2200" spc="-1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14" dirty="0">
                <a:solidFill>
                  <a:srgbClr val="FFFFFF"/>
                </a:solidFill>
                <a:latin typeface="Arial Black"/>
                <a:cs typeface="Arial Black"/>
              </a:rPr>
              <a:t>decisions. </a:t>
            </a:r>
            <a:r>
              <a:rPr sz="2200" spc="-175" dirty="0">
                <a:solidFill>
                  <a:srgbClr val="FFFFFF"/>
                </a:solidFill>
                <a:latin typeface="Arial Black"/>
                <a:cs typeface="Arial Black"/>
              </a:rPr>
              <a:t>This</a:t>
            </a:r>
            <a:r>
              <a:rPr sz="2200" spc="-1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14" dirty="0">
                <a:solidFill>
                  <a:srgbClr val="FFFFFF"/>
                </a:solidFill>
                <a:latin typeface="Arial Black"/>
                <a:cs typeface="Arial Black"/>
              </a:rPr>
              <a:t>project</a:t>
            </a:r>
            <a:r>
              <a:rPr sz="2200" spc="-130" dirty="0">
                <a:solidFill>
                  <a:srgbClr val="FFFFFF"/>
                </a:solidFill>
                <a:latin typeface="Arial Black"/>
                <a:cs typeface="Arial Black"/>
              </a:rPr>
              <a:t> presents </a:t>
            </a:r>
            <a:r>
              <a:rPr sz="2200" spc="-100" dirty="0">
                <a:solidFill>
                  <a:srgbClr val="FFFFFF"/>
                </a:solidFill>
                <a:latin typeface="Arial Black"/>
                <a:cs typeface="Arial Black"/>
              </a:rPr>
              <a:t>an</a:t>
            </a:r>
            <a:r>
              <a:rPr sz="2200" spc="-1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55" dirty="0">
                <a:solidFill>
                  <a:srgbClr val="FFFFFF"/>
                </a:solidFill>
                <a:latin typeface="Arial Black"/>
                <a:cs typeface="Arial Black"/>
              </a:rPr>
              <a:t>in-</a:t>
            </a:r>
            <a:r>
              <a:rPr sz="2200" spc="-85" dirty="0">
                <a:solidFill>
                  <a:srgbClr val="FFFFFF"/>
                </a:solidFill>
                <a:latin typeface="Arial Black"/>
                <a:cs typeface="Arial Black"/>
              </a:rPr>
              <a:t>depth</a:t>
            </a:r>
            <a:r>
              <a:rPr sz="2200" spc="-1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45" dirty="0">
                <a:solidFill>
                  <a:srgbClr val="FFFFFF"/>
                </a:solidFill>
                <a:latin typeface="Arial Black"/>
                <a:cs typeface="Arial Black"/>
              </a:rPr>
              <a:t>analysis</a:t>
            </a:r>
            <a:r>
              <a:rPr sz="2200" spc="-1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60" dirty="0">
                <a:solidFill>
                  <a:srgbClr val="FFFFFF"/>
                </a:solidFill>
                <a:latin typeface="Arial Black"/>
                <a:cs typeface="Arial Black"/>
              </a:rPr>
              <a:t>of</a:t>
            </a:r>
            <a:r>
              <a:rPr sz="2200" spc="-130" dirty="0">
                <a:solidFill>
                  <a:srgbClr val="FFFFFF"/>
                </a:solidFill>
                <a:latin typeface="Arial Black"/>
                <a:cs typeface="Arial Black"/>
              </a:rPr>
              <a:t> Superstore </a:t>
            </a:r>
            <a:r>
              <a:rPr sz="2200" spc="-10" dirty="0">
                <a:solidFill>
                  <a:srgbClr val="FFFFFF"/>
                </a:solidFill>
                <a:latin typeface="Arial Black"/>
                <a:cs typeface="Arial Black"/>
              </a:rPr>
              <a:t>sales </a:t>
            </a:r>
            <a:r>
              <a:rPr sz="2200" spc="-105" dirty="0">
                <a:solidFill>
                  <a:srgbClr val="FFFFFF"/>
                </a:solidFill>
                <a:latin typeface="Arial Black"/>
                <a:cs typeface="Arial Black"/>
              </a:rPr>
              <a:t>data</a:t>
            </a:r>
            <a:r>
              <a:rPr sz="2200" spc="-1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30" dirty="0">
                <a:solidFill>
                  <a:srgbClr val="FFFFFF"/>
                </a:solidFill>
                <a:latin typeface="Arial Black"/>
                <a:cs typeface="Arial Black"/>
              </a:rPr>
              <a:t>using</a:t>
            </a:r>
            <a:r>
              <a:rPr sz="2200" spc="-1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05" dirty="0">
                <a:solidFill>
                  <a:srgbClr val="FFFFFF"/>
                </a:solidFill>
                <a:latin typeface="Arial Black"/>
                <a:cs typeface="Arial Black"/>
              </a:rPr>
              <a:t>data</a:t>
            </a:r>
            <a:r>
              <a:rPr sz="2200" spc="-1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204" dirty="0">
                <a:solidFill>
                  <a:srgbClr val="FFFFFF"/>
                </a:solidFill>
                <a:latin typeface="Arial Black"/>
                <a:cs typeface="Arial Black"/>
              </a:rPr>
              <a:t>science</a:t>
            </a:r>
            <a:r>
              <a:rPr sz="2200" spc="-1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30" dirty="0">
                <a:solidFill>
                  <a:srgbClr val="FFFFFF"/>
                </a:solidFill>
                <a:latin typeface="Arial Black"/>
                <a:cs typeface="Arial Black"/>
              </a:rPr>
              <a:t>techniques.</a:t>
            </a:r>
            <a:r>
              <a:rPr sz="2200" spc="-1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85" dirty="0">
                <a:solidFill>
                  <a:srgbClr val="FFFFFF"/>
                </a:solidFill>
                <a:latin typeface="Arial Black"/>
                <a:cs typeface="Arial Black"/>
              </a:rPr>
              <a:t>By</a:t>
            </a:r>
            <a:r>
              <a:rPr sz="2200" spc="-1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10" dirty="0">
                <a:solidFill>
                  <a:srgbClr val="FFFFFF"/>
                </a:solidFill>
                <a:latin typeface="Arial Black"/>
                <a:cs typeface="Arial Black"/>
              </a:rPr>
              <a:t>exploring</a:t>
            </a:r>
            <a:r>
              <a:rPr sz="2200" spc="-1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35" dirty="0">
                <a:solidFill>
                  <a:srgbClr val="FFFFFF"/>
                </a:solidFill>
                <a:latin typeface="Arial Black"/>
                <a:cs typeface="Arial Black"/>
              </a:rPr>
              <a:t>key</a:t>
            </a:r>
            <a:r>
              <a:rPr sz="2200" spc="-1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Black"/>
                <a:cs typeface="Arial Black"/>
              </a:rPr>
              <a:t>metrics </a:t>
            </a:r>
            <a:r>
              <a:rPr sz="2200" spc="-170" dirty="0">
                <a:solidFill>
                  <a:srgbClr val="FFFFFF"/>
                </a:solidFill>
                <a:latin typeface="Arial Black"/>
                <a:cs typeface="Arial Black"/>
              </a:rPr>
              <a:t>such</a:t>
            </a:r>
            <a:r>
              <a:rPr sz="22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210" dirty="0">
                <a:solidFill>
                  <a:srgbClr val="FFFFFF"/>
                </a:solidFill>
                <a:latin typeface="Arial Black"/>
                <a:cs typeface="Arial Black"/>
              </a:rPr>
              <a:t>as</a:t>
            </a:r>
            <a:r>
              <a:rPr sz="2200" spc="-1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75" dirty="0">
                <a:solidFill>
                  <a:srgbClr val="FFFFFF"/>
                </a:solidFill>
                <a:latin typeface="Arial Black"/>
                <a:cs typeface="Arial Black"/>
              </a:rPr>
              <a:t>sales,</a:t>
            </a:r>
            <a:r>
              <a:rPr sz="22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60" dirty="0">
                <a:solidFill>
                  <a:srgbClr val="FFFFFF"/>
                </a:solidFill>
                <a:latin typeface="Arial Black"/>
                <a:cs typeface="Arial Black"/>
              </a:rPr>
              <a:t>profit,</a:t>
            </a:r>
            <a:r>
              <a:rPr sz="22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95" dirty="0">
                <a:solidFill>
                  <a:srgbClr val="FFFFFF"/>
                </a:solidFill>
                <a:latin typeface="Arial Black"/>
                <a:cs typeface="Arial Black"/>
              </a:rPr>
              <a:t>and</a:t>
            </a:r>
            <a:r>
              <a:rPr sz="22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30" dirty="0">
                <a:solidFill>
                  <a:srgbClr val="FFFFFF"/>
                </a:solidFill>
                <a:latin typeface="Arial Black"/>
                <a:cs typeface="Arial Black"/>
              </a:rPr>
              <a:t>customer</a:t>
            </a:r>
            <a:r>
              <a:rPr sz="22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95" dirty="0">
                <a:solidFill>
                  <a:srgbClr val="FFFFFF"/>
                </a:solidFill>
                <a:latin typeface="Arial Black"/>
                <a:cs typeface="Arial Black"/>
              </a:rPr>
              <a:t>behavior</a:t>
            </a:r>
            <a:r>
              <a:rPr sz="22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90" dirty="0">
                <a:solidFill>
                  <a:srgbClr val="FFFFFF"/>
                </a:solidFill>
                <a:latin typeface="Arial Black"/>
                <a:cs typeface="Arial Black"/>
              </a:rPr>
              <a:t>across</a:t>
            </a:r>
            <a:r>
              <a:rPr sz="22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Black"/>
                <a:cs typeface="Arial Black"/>
              </a:rPr>
              <a:t>different </a:t>
            </a:r>
            <a:r>
              <a:rPr sz="2200" spc="-130" dirty="0">
                <a:solidFill>
                  <a:srgbClr val="FFFFFF"/>
                </a:solidFill>
                <a:latin typeface="Arial Black"/>
                <a:cs typeface="Arial Black"/>
              </a:rPr>
              <a:t>regions,</a:t>
            </a:r>
            <a:r>
              <a:rPr sz="22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55" dirty="0">
                <a:solidFill>
                  <a:srgbClr val="FFFFFF"/>
                </a:solidFill>
                <a:latin typeface="Arial Black"/>
                <a:cs typeface="Arial Black"/>
              </a:rPr>
              <a:t>categories,</a:t>
            </a:r>
            <a:r>
              <a:rPr sz="22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95" dirty="0">
                <a:solidFill>
                  <a:srgbClr val="FFFFFF"/>
                </a:solidFill>
                <a:latin typeface="Arial Black"/>
                <a:cs typeface="Arial Black"/>
              </a:rPr>
              <a:t>and</a:t>
            </a:r>
            <a:r>
              <a:rPr sz="2200" spc="-1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55" dirty="0">
                <a:solidFill>
                  <a:srgbClr val="FFFFFF"/>
                </a:solidFill>
                <a:latin typeface="Arial Black"/>
                <a:cs typeface="Arial Black"/>
              </a:rPr>
              <a:t>segments,</a:t>
            </a:r>
            <a:r>
              <a:rPr sz="22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200" dirty="0">
                <a:solidFill>
                  <a:srgbClr val="FFFFFF"/>
                </a:solidFill>
                <a:latin typeface="Arial Black"/>
                <a:cs typeface="Arial Black"/>
              </a:rPr>
              <a:t>we</a:t>
            </a:r>
            <a:r>
              <a:rPr sz="22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90" dirty="0">
                <a:solidFill>
                  <a:srgbClr val="FFFFFF"/>
                </a:solidFill>
                <a:latin typeface="Arial Black"/>
                <a:cs typeface="Arial Black"/>
              </a:rPr>
              <a:t>aim</a:t>
            </a:r>
            <a:r>
              <a:rPr sz="2200" spc="-1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75" dirty="0">
                <a:solidFill>
                  <a:srgbClr val="FFFFFF"/>
                </a:solidFill>
                <a:latin typeface="Arial Black"/>
                <a:cs typeface="Arial Black"/>
              </a:rPr>
              <a:t>to</a:t>
            </a:r>
            <a:r>
              <a:rPr sz="22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20" dirty="0">
                <a:solidFill>
                  <a:srgbClr val="FFFFFF"/>
                </a:solidFill>
                <a:latin typeface="Arial Black"/>
                <a:cs typeface="Arial Black"/>
              </a:rPr>
              <a:t>uncover</a:t>
            </a:r>
            <a:r>
              <a:rPr sz="22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Black"/>
                <a:cs typeface="Arial Black"/>
              </a:rPr>
              <a:t>hidden </a:t>
            </a:r>
            <a:r>
              <a:rPr sz="2200" spc="-100" dirty="0">
                <a:solidFill>
                  <a:srgbClr val="FFFFFF"/>
                </a:solidFill>
                <a:latin typeface="Arial Black"/>
                <a:cs typeface="Arial Black"/>
              </a:rPr>
              <a:t>patterns</a:t>
            </a:r>
            <a:r>
              <a:rPr sz="2200" spc="-1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95" dirty="0">
                <a:solidFill>
                  <a:srgbClr val="FFFFFF"/>
                </a:solidFill>
                <a:latin typeface="Arial Black"/>
                <a:cs typeface="Arial Black"/>
              </a:rPr>
              <a:t>and</a:t>
            </a:r>
            <a:r>
              <a:rPr sz="2200" spc="-125" dirty="0">
                <a:solidFill>
                  <a:srgbClr val="FFFFFF"/>
                </a:solidFill>
                <a:latin typeface="Arial Black"/>
                <a:cs typeface="Arial Black"/>
              </a:rPr>
              <a:t> actionable </a:t>
            </a:r>
            <a:r>
              <a:rPr sz="2200" spc="-10" dirty="0">
                <a:solidFill>
                  <a:srgbClr val="FFFFFF"/>
                </a:solidFill>
                <a:latin typeface="Arial Black"/>
                <a:cs typeface="Arial Black"/>
              </a:rPr>
              <a:t>insights.</a:t>
            </a:r>
            <a:endParaRPr lang="en-US" sz="2200" spc="-10" dirty="0">
              <a:solidFill>
                <a:srgbClr val="FFFFFF"/>
              </a:solidFill>
              <a:latin typeface="Arial Black"/>
              <a:cs typeface="Arial Black"/>
            </a:endParaRPr>
          </a:p>
          <a:p>
            <a:pPr marL="12700" marR="205740" algn="just">
              <a:lnSpc>
                <a:spcPct val="139200"/>
              </a:lnSpc>
              <a:spcBef>
                <a:spcPts val="100"/>
              </a:spcBef>
            </a:pPr>
            <a:endParaRPr sz="2200" dirty="0">
              <a:latin typeface="Arial Black"/>
              <a:cs typeface="Arial Black"/>
            </a:endParaRPr>
          </a:p>
          <a:p>
            <a:pPr marL="12700" marR="5080" algn="just">
              <a:lnSpc>
                <a:spcPct val="139200"/>
              </a:lnSpc>
            </a:pPr>
            <a:r>
              <a:rPr sz="2200" spc="-180" dirty="0">
                <a:solidFill>
                  <a:srgbClr val="FFFFFF"/>
                </a:solidFill>
                <a:latin typeface="Arial Black"/>
                <a:cs typeface="Arial Black"/>
              </a:rPr>
              <a:t>The</a:t>
            </a:r>
            <a:r>
              <a:rPr sz="2200" spc="-1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45" dirty="0">
                <a:solidFill>
                  <a:srgbClr val="FFFFFF"/>
                </a:solidFill>
                <a:latin typeface="Arial Black"/>
                <a:cs typeface="Arial Black"/>
              </a:rPr>
              <a:t>analysis</a:t>
            </a:r>
            <a:r>
              <a:rPr sz="2200" spc="-1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70" dirty="0">
                <a:solidFill>
                  <a:srgbClr val="FFFFFF"/>
                </a:solidFill>
                <a:latin typeface="Arial Black"/>
                <a:cs typeface="Arial Black"/>
              </a:rPr>
              <a:t>is</a:t>
            </a:r>
            <a:r>
              <a:rPr sz="2200" spc="-1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75" dirty="0">
                <a:solidFill>
                  <a:srgbClr val="FFFFFF"/>
                </a:solidFill>
                <a:latin typeface="Arial Black"/>
                <a:cs typeface="Arial Black"/>
              </a:rPr>
              <a:t>performed</a:t>
            </a:r>
            <a:r>
              <a:rPr sz="22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30" dirty="0">
                <a:solidFill>
                  <a:srgbClr val="FFFFFF"/>
                </a:solidFill>
                <a:latin typeface="Arial Black"/>
                <a:cs typeface="Arial Black"/>
              </a:rPr>
              <a:t>using</a:t>
            </a:r>
            <a:r>
              <a:rPr sz="2200" spc="-1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95" dirty="0">
                <a:solidFill>
                  <a:srgbClr val="FFFFFF"/>
                </a:solidFill>
                <a:latin typeface="Arial Black"/>
                <a:cs typeface="Arial Black"/>
              </a:rPr>
              <a:t>Python</a:t>
            </a:r>
            <a:r>
              <a:rPr sz="2200" spc="-1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95" dirty="0">
                <a:solidFill>
                  <a:srgbClr val="FFFFFF"/>
                </a:solidFill>
                <a:latin typeface="Arial Black"/>
                <a:cs typeface="Arial Black"/>
              </a:rPr>
              <a:t>and</a:t>
            </a:r>
            <a:r>
              <a:rPr sz="22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05" dirty="0">
                <a:solidFill>
                  <a:srgbClr val="FFFFFF"/>
                </a:solidFill>
                <a:latin typeface="Arial Black"/>
                <a:cs typeface="Arial Black"/>
              </a:rPr>
              <a:t>data</a:t>
            </a:r>
            <a:r>
              <a:rPr sz="2200" spc="-1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Black"/>
                <a:cs typeface="Arial Black"/>
              </a:rPr>
              <a:t>visualization </a:t>
            </a:r>
            <a:r>
              <a:rPr sz="2200" spc="-120" dirty="0">
                <a:solidFill>
                  <a:srgbClr val="FFFFFF"/>
                </a:solidFill>
                <a:latin typeface="Arial Black"/>
                <a:cs typeface="Arial Black"/>
              </a:rPr>
              <a:t>tools</a:t>
            </a:r>
            <a:r>
              <a:rPr sz="2200" spc="-1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75" dirty="0">
                <a:solidFill>
                  <a:srgbClr val="FFFFFF"/>
                </a:solidFill>
                <a:latin typeface="Arial Black"/>
                <a:cs typeface="Arial Black"/>
              </a:rPr>
              <a:t>to</a:t>
            </a:r>
            <a:r>
              <a:rPr sz="2200" spc="-1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75" dirty="0">
                <a:solidFill>
                  <a:srgbClr val="FFFFFF"/>
                </a:solidFill>
                <a:latin typeface="Arial Black"/>
                <a:cs typeface="Arial Black"/>
              </a:rPr>
              <a:t>transform</a:t>
            </a:r>
            <a:r>
              <a:rPr sz="2200" spc="-1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14" dirty="0">
                <a:solidFill>
                  <a:srgbClr val="FFFFFF"/>
                </a:solidFill>
                <a:latin typeface="Arial Black"/>
                <a:cs typeface="Arial Black"/>
              </a:rPr>
              <a:t>raw</a:t>
            </a:r>
            <a:r>
              <a:rPr sz="2200" spc="-1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05" dirty="0">
                <a:solidFill>
                  <a:srgbClr val="FFFFFF"/>
                </a:solidFill>
                <a:latin typeface="Arial Black"/>
                <a:cs typeface="Arial Black"/>
              </a:rPr>
              <a:t>data</a:t>
            </a:r>
            <a:r>
              <a:rPr sz="2200" spc="-1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60" dirty="0">
                <a:solidFill>
                  <a:srgbClr val="FFFFFF"/>
                </a:solidFill>
                <a:latin typeface="Arial Black"/>
                <a:cs typeface="Arial Black"/>
              </a:rPr>
              <a:t>into</a:t>
            </a:r>
            <a:r>
              <a:rPr sz="2200" spc="-1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90" dirty="0">
                <a:solidFill>
                  <a:srgbClr val="FFFFFF"/>
                </a:solidFill>
                <a:latin typeface="Arial Black"/>
                <a:cs typeface="Arial Black"/>
              </a:rPr>
              <a:t>meaningful</a:t>
            </a:r>
            <a:r>
              <a:rPr sz="2200" spc="-1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Black"/>
                <a:cs typeface="Arial Black"/>
              </a:rPr>
              <a:t>business </a:t>
            </a:r>
            <a:r>
              <a:rPr sz="2200" spc="-130" dirty="0">
                <a:solidFill>
                  <a:srgbClr val="FFFFFF"/>
                </a:solidFill>
                <a:latin typeface="Arial Black"/>
                <a:cs typeface="Arial Black"/>
              </a:rPr>
              <a:t>intelligence.</a:t>
            </a:r>
            <a:r>
              <a:rPr sz="2200" spc="-12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75" dirty="0">
                <a:solidFill>
                  <a:srgbClr val="FFFFFF"/>
                </a:solidFill>
                <a:latin typeface="Arial Black"/>
                <a:cs typeface="Arial Black"/>
              </a:rPr>
              <a:t>This</a:t>
            </a:r>
            <a:r>
              <a:rPr sz="2200" spc="-12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00" dirty="0">
                <a:solidFill>
                  <a:srgbClr val="FFFFFF"/>
                </a:solidFill>
                <a:latin typeface="Arial Black"/>
                <a:cs typeface="Arial Black"/>
              </a:rPr>
              <a:t>presentation</a:t>
            </a:r>
            <a:r>
              <a:rPr sz="2200" spc="-114" dirty="0">
                <a:solidFill>
                  <a:srgbClr val="FFFFFF"/>
                </a:solidFill>
                <a:latin typeface="Arial Black"/>
                <a:cs typeface="Arial Black"/>
              </a:rPr>
              <a:t> highlights</a:t>
            </a:r>
            <a:r>
              <a:rPr sz="2200" spc="-12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90" dirty="0">
                <a:solidFill>
                  <a:srgbClr val="FFFFFF"/>
                </a:solidFill>
                <a:latin typeface="Arial Black"/>
                <a:cs typeface="Arial Black"/>
              </a:rPr>
              <a:t>the</a:t>
            </a:r>
            <a:r>
              <a:rPr sz="2200" spc="-114" dirty="0">
                <a:solidFill>
                  <a:srgbClr val="FFFFFF"/>
                </a:solidFill>
                <a:latin typeface="Arial Black"/>
                <a:cs typeface="Arial Black"/>
              </a:rPr>
              <a:t> most</a:t>
            </a:r>
            <a:r>
              <a:rPr sz="2200" spc="-12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Black"/>
                <a:cs typeface="Arial Black"/>
              </a:rPr>
              <a:t>impactful </a:t>
            </a:r>
            <a:r>
              <a:rPr sz="2200" spc="-100" dirty="0">
                <a:solidFill>
                  <a:srgbClr val="FFFFFF"/>
                </a:solidFill>
                <a:latin typeface="Arial Black"/>
                <a:cs typeface="Arial Black"/>
              </a:rPr>
              <a:t>trends</a:t>
            </a:r>
            <a:r>
              <a:rPr sz="22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65" dirty="0">
                <a:solidFill>
                  <a:srgbClr val="FFFFFF"/>
                </a:solidFill>
                <a:latin typeface="Arial Black"/>
                <a:cs typeface="Arial Black"/>
              </a:rPr>
              <a:t>that</a:t>
            </a:r>
            <a:r>
              <a:rPr sz="22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10" dirty="0">
                <a:solidFill>
                  <a:srgbClr val="FFFFFF"/>
                </a:solidFill>
                <a:latin typeface="Arial Black"/>
                <a:cs typeface="Arial Black"/>
              </a:rPr>
              <a:t>influence</a:t>
            </a:r>
            <a:r>
              <a:rPr sz="22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50" dirty="0">
                <a:solidFill>
                  <a:srgbClr val="FFFFFF"/>
                </a:solidFill>
                <a:latin typeface="Arial Black"/>
                <a:cs typeface="Arial Black"/>
              </a:rPr>
              <a:t>profit</a:t>
            </a:r>
            <a:r>
              <a:rPr sz="2200" spc="-1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95" dirty="0">
                <a:solidFill>
                  <a:srgbClr val="FFFFFF"/>
                </a:solidFill>
                <a:latin typeface="Arial Black"/>
                <a:cs typeface="Arial Black"/>
              </a:rPr>
              <a:t>and</a:t>
            </a:r>
            <a:r>
              <a:rPr sz="22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05" dirty="0">
                <a:solidFill>
                  <a:srgbClr val="FFFFFF"/>
                </a:solidFill>
                <a:latin typeface="Arial Black"/>
                <a:cs typeface="Arial Black"/>
              </a:rPr>
              <a:t>performance</a:t>
            </a:r>
            <a:r>
              <a:rPr sz="22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55" dirty="0">
                <a:solidFill>
                  <a:srgbClr val="FFFFFF"/>
                </a:solidFill>
                <a:latin typeface="Arial Black"/>
                <a:cs typeface="Arial Black"/>
              </a:rPr>
              <a:t>in</a:t>
            </a:r>
            <a:r>
              <a:rPr sz="22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90" dirty="0">
                <a:solidFill>
                  <a:srgbClr val="FFFFFF"/>
                </a:solidFill>
                <a:latin typeface="Arial Black"/>
                <a:cs typeface="Arial Black"/>
              </a:rPr>
              <a:t>the</a:t>
            </a:r>
            <a:r>
              <a:rPr sz="2200" spc="-1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90" dirty="0">
                <a:solidFill>
                  <a:srgbClr val="FFFFFF"/>
                </a:solidFill>
                <a:latin typeface="Arial Black"/>
                <a:cs typeface="Arial Black"/>
              </a:rPr>
              <a:t>Superstore's </a:t>
            </a:r>
            <a:r>
              <a:rPr sz="2200" spc="-10" dirty="0">
                <a:solidFill>
                  <a:srgbClr val="FFFFFF"/>
                </a:solidFill>
                <a:latin typeface="Arial Black"/>
                <a:cs typeface="Arial Black"/>
              </a:rPr>
              <a:t>operations.</a:t>
            </a:r>
            <a:endParaRPr sz="2200" dirty="0">
              <a:latin typeface="Arial Black"/>
              <a:cs typeface="Arial Black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44734" y="8489035"/>
            <a:ext cx="223236" cy="2232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6685" y="1041893"/>
            <a:ext cx="631285" cy="48767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301437"/>
            <a:ext cx="1679443" cy="98556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61431" y="8092089"/>
            <a:ext cx="283333" cy="28333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805425" y="1544562"/>
            <a:ext cx="223236" cy="223236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480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015" dirty="0"/>
              <a:t>Key</a:t>
            </a:r>
            <a:r>
              <a:rPr spc="400" dirty="0"/>
              <a:t> </a:t>
            </a:r>
            <a:r>
              <a:rPr spc="730" dirty="0"/>
              <a:t>Insight:</a:t>
            </a: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9961" y="3565139"/>
            <a:ext cx="95250" cy="952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9961" y="4965314"/>
            <a:ext cx="95250" cy="9524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953096" y="3284462"/>
            <a:ext cx="6358890" cy="2264274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135"/>
              </a:spcBef>
            </a:pPr>
            <a:r>
              <a:rPr sz="2200" spc="-135" dirty="0">
                <a:solidFill>
                  <a:srgbClr val="FFFFFF"/>
                </a:solidFill>
                <a:latin typeface="Arial Black"/>
                <a:cs typeface="Arial Black"/>
              </a:rPr>
              <a:t>Canon</a:t>
            </a:r>
            <a:r>
              <a:rPr sz="2200" spc="-1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229" dirty="0">
                <a:solidFill>
                  <a:srgbClr val="FFFFFF"/>
                </a:solidFill>
                <a:latin typeface="Arial Black"/>
                <a:cs typeface="Arial Black"/>
              </a:rPr>
              <a:t>imageCLASS</a:t>
            </a:r>
            <a:r>
              <a:rPr sz="2200" spc="-1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210" dirty="0">
                <a:solidFill>
                  <a:srgbClr val="FFFFFF"/>
                </a:solidFill>
                <a:latin typeface="Arial Black"/>
                <a:cs typeface="Arial Black"/>
              </a:rPr>
              <a:t>2200</a:t>
            </a:r>
            <a:r>
              <a:rPr sz="2200" spc="-1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50" dirty="0">
                <a:solidFill>
                  <a:srgbClr val="FFFFFF"/>
                </a:solidFill>
                <a:latin typeface="Arial Black"/>
                <a:cs typeface="Arial Black"/>
              </a:rPr>
              <a:t>leads</a:t>
            </a:r>
            <a:r>
              <a:rPr sz="2200" spc="-1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90" dirty="0">
                <a:solidFill>
                  <a:srgbClr val="FFFFFF"/>
                </a:solidFill>
                <a:latin typeface="Arial Black"/>
                <a:cs typeface="Arial Black"/>
              </a:rPr>
              <a:t>with</a:t>
            </a:r>
            <a:r>
              <a:rPr sz="2200" spc="-1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85" dirty="0">
                <a:solidFill>
                  <a:srgbClr val="FFFFFF"/>
                </a:solidFill>
                <a:latin typeface="Arial Black"/>
                <a:cs typeface="Arial Black"/>
              </a:rPr>
              <a:t>sales</a:t>
            </a:r>
            <a:r>
              <a:rPr sz="2200" spc="-1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Arial Black"/>
                <a:cs typeface="Arial Black"/>
              </a:rPr>
              <a:t>over</a:t>
            </a:r>
            <a:endParaRPr sz="2200" dirty="0">
              <a:latin typeface="Arial Black"/>
              <a:cs typeface="Arial Black"/>
            </a:endParaRPr>
          </a:p>
          <a:p>
            <a:pPr marL="12700" algn="just">
              <a:lnSpc>
                <a:spcPct val="100000"/>
              </a:lnSpc>
              <a:spcBef>
                <a:spcPts val="1035"/>
              </a:spcBef>
            </a:pPr>
            <a:r>
              <a:rPr sz="2200" b="1" spc="-45" dirty="0">
                <a:solidFill>
                  <a:srgbClr val="FFFFFF"/>
                </a:solidFill>
                <a:latin typeface="Arial"/>
                <a:cs typeface="Arial"/>
              </a:rPr>
              <a:t>₹</a:t>
            </a:r>
            <a:r>
              <a:rPr sz="2200" spc="-45" dirty="0">
                <a:solidFill>
                  <a:srgbClr val="FFFFFF"/>
                </a:solidFill>
                <a:latin typeface="Arial Black"/>
                <a:cs typeface="Arial Black"/>
              </a:rPr>
              <a:t>61,000.</a:t>
            </a:r>
            <a:endParaRPr sz="2200" dirty="0">
              <a:latin typeface="Arial Black"/>
              <a:cs typeface="Arial Black"/>
            </a:endParaRPr>
          </a:p>
          <a:p>
            <a:pPr algn="just">
              <a:lnSpc>
                <a:spcPct val="100000"/>
              </a:lnSpc>
              <a:spcBef>
                <a:spcPts val="570"/>
              </a:spcBef>
            </a:pPr>
            <a:endParaRPr sz="2200" dirty="0">
              <a:latin typeface="Arial Black"/>
              <a:cs typeface="Arial Black"/>
            </a:endParaRPr>
          </a:p>
          <a:p>
            <a:pPr marL="12700" marR="1404620" algn="just">
              <a:lnSpc>
                <a:spcPct val="139200"/>
              </a:lnSpc>
            </a:pPr>
            <a:r>
              <a:rPr sz="2200" spc="-110" dirty="0">
                <a:solidFill>
                  <a:srgbClr val="FFFFFF"/>
                </a:solidFill>
                <a:latin typeface="Arial Black"/>
                <a:cs typeface="Arial Black"/>
              </a:rPr>
              <a:t>Most</a:t>
            </a:r>
            <a:r>
              <a:rPr sz="22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70" dirty="0">
                <a:solidFill>
                  <a:srgbClr val="FFFFFF"/>
                </a:solidFill>
                <a:latin typeface="Arial Black"/>
                <a:cs typeface="Arial Black"/>
              </a:rPr>
              <a:t>top-</a:t>
            </a:r>
            <a:r>
              <a:rPr sz="2200" spc="-135" dirty="0">
                <a:solidFill>
                  <a:srgbClr val="FFFFFF"/>
                </a:solidFill>
                <a:latin typeface="Arial Black"/>
                <a:cs typeface="Arial Black"/>
              </a:rPr>
              <a:t>selling </a:t>
            </a:r>
            <a:r>
              <a:rPr sz="2200" spc="-120" dirty="0">
                <a:solidFill>
                  <a:srgbClr val="FFFFFF"/>
                </a:solidFill>
                <a:latin typeface="Arial Black"/>
                <a:cs typeface="Arial Black"/>
              </a:rPr>
              <a:t>products</a:t>
            </a:r>
            <a:r>
              <a:rPr sz="22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05" dirty="0">
                <a:solidFill>
                  <a:srgbClr val="FFFFFF"/>
                </a:solidFill>
                <a:latin typeface="Arial Black"/>
                <a:cs typeface="Arial Black"/>
              </a:rPr>
              <a:t>are</a:t>
            </a:r>
            <a:r>
              <a:rPr sz="22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75" dirty="0">
                <a:solidFill>
                  <a:srgbClr val="FFFFFF"/>
                </a:solidFill>
                <a:latin typeface="Arial Black"/>
                <a:cs typeface="Arial Black"/>
              </a:rPr>
              <a:t>office </a:t>
            </a:r>
            <a:r>
              <a:rPr sz="2200" spc="-150" dirty="0">
                <a:solidFill>
                  <a:srgbClr val="FFFFFF"/>
                </a:solidFill>
                <a:latin typeface="Arial Black"/>
                <a:cs typeface="Arial Black"/>
              </a:rPr>
              <a:t>electronics</a:t>
            </a:r>
            <a:r>
              <a:rPr sz="2200" spc="-1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95" dirty="0">
                <a:solidFill>
                  <a:srgbClr val="FFFFFF"/>
                </a:solidFill>
                <a:latin typeface="Arial Black"/>
                <a:cs typeface="Arial Black"/>
              </a:rPr>
              <a:t>and</a:t>
            </a:r>
            <a:r>
              <a:rPr sz="2200" spc="-1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Black"/>
                <a:cs typeface="Arial Black"/>
              </a:rPr>
              <a:t>binders.</a:t>
            </a:r>
            <a:endParaRPr sz="2200" dirty="0">
              <a:latin typeface="Arial Black"/>
              <a:cs typeface="Arial Black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9961" y="6365488"/>
            <a:ext cx="95250" cy="9524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953096" y="6084813"/>
            <a:ext cx="6391910" cy="9106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9200"/>
              </a:lnSpc>
              <a:spcBef>
                <a:spcPts val="100"/>
              </a:spcBef>
            </a:pPr>
            <a:r>
              <a:rPr sz="2200" spc="-114" dirty="0">
                <a:solidFill>
                  <a:srgbClr val="FFFFFF"/>
                </a:solidFill>
                <a:latin typeface="Arial Black"/>
                <a:cs typeface="Arial Black"/>
              </a:rPr>
              <a:t>High-</a:t>
            </a:r>
            <a:r>
              <a:rPr sz="2200" spc="-110" dirty="0">
                <a:solidFill>
                  <a:srgbClr val="FFFFFF"/>
                </a:solidFill>
                <a:latin typeface="Arial Black"/>
                <a:cs typeface="Arial Black"/>
              </a:rPr>
              <a:t>value</a:t>
            </a:r>
            <a:r>
              <a:rPr sz="22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50" dirty="0">
                <a:solidFill>
                  <a:srgbClr val="FFFFFF"/>
                </a:solidFill>
                <a:latin typeface="Arial Black"/>
                <a:cs typeface="Arial Black"/>
              </a:rPr>
              <a:t>tech</a:t>
            </a:r>
            <a:r>
              <a:rPr sz="22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20" dirty="0">
                <a:solidFill>
                  <a:srgbClr val="FFFFFF"/>
                </a:solidFill>
                <a:latin typeface="Arial Black"/>
                <a:cs typeface="Arial Black"/>
              </a:rPr>
              <a:t>items</a:t>
            </a:r>
            <a:r>
              <a:rPr sz="22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95" dirty="0">
                <a:solidFill>
                  <a:srgbClr val="FFFFFF"/>
                </a:solidFill>
                <a:latin typeface="Arial Black"/>
                <a:cs typeface="Arial Black"/>
              </a:rPr>
              <a:t>contribute</a:t>
            </a:r>
            <a:r>
              <a:rPr sz="22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90" dirty="0">
                <a:solidFill>
                  <a:srgbClr val="FFFFFF"/>
                </a:solidFill>
                <a:latin typeface="Arial Black"/>
                <a:cs typeface="Arial Black"/>
              </a:rPr>
              <a:t>significantly </a:t>
            </a:r>
            <a:r>
              <a:rPr sz="2200" spc="-75" dirty="0">
                <a:solidFill>
                  <a:srgbClr val="FFFFFF"/>
                </a:solidFill>
                <a:latin typeface="Arial Black"/>
                <a:cs typeface="Arial Black"/>
              </a:rPr>
              <a:t>to</a:t>
            </a:r>
            <a:r>
              <a:rPr sz="2200" spc="-1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80" dirty="0">
                <a:solidFill>
                  <a:srgbClr val="FFFFFF"/>
                </a:solidFill>
                <a:latin typeface="Arial Black"/>
                <a:cs typeface="Arial Black"/>
              </a:rPr>
              <a:t>total</a:t>
            </a:r>
            <a:r>
              <a:rPr sz="2200" spc="-15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Black"/>
                <a:cs typeface="Arial Black"/>
              </a:rPr>
              <a:t>revenue.</a:t>
            </a:r>
            <a:endParaRPr sz="2200" dirty="0">
              <a:latin typeface="Arial Black"/>
              <a:cs typeface="Arial Blac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948731" y="6884446"/>
            <a:ext cx="5555615" cy="388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50" b="1" spc="135" dirty="0">
                <a:solidFill>
                  <a:srgbClr val="FFFFFF"/>
                </a:solidFill>
                <a:latin typeface="Calibri"/>
                <a:cs typeface="Calibri"/>
              </a:rPr>
              <a:t>1.Bar</a:t>
            </a:r>
            <a:r>
              <a:rPr sz="2350" b="1" spc="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50" b="1" spc="310" dirty="0">
                <a:solidFill>
                  <a:srgbClr val="FFFFFF"/>
                </a:solidFill>
                <a:latin typeface="Calibri"/>
                <a:cs typeface="Calibri"/>
              </a:rPr>
              <a:t>Chart</a:t>
            </a:r>
            <a:r>
              <a:rPr sz="2350" b="1" spc="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50" b="1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350" b="1" spc="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50" b="1" spc="320" dirty="0">
                <a:solidFill>
                  <a:srgbClr val="FFFFFF"/>
                </a:solidFill>
                <a:latin typeface="Calibri"/>
                <a:cs typeface="Calibri"/>
              </a:rPr>
              <a:t>Top</a:t>
            </a:r>
            <a:r>
              <a:rPr sz="2350" b="1" spc="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50" b="1" spc="325" dirty="0">
                <a:solidFill>
                  <a:srgbClr val="FFFFFF"/>
                </a:solidFill>
                <a:latin typeface="Calibri"/>
                <a:cs typeface="Calibri"/>
              </a:rPr>
              <a:t>Products</a:t>
            </a:r>
            <a:r>
              <a:rPr sz="2350" b="1" spc="1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50" b="1" spc="335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2350" b="1" spc="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50" b="1" spc="275" dirty="0">
                <a:solidFill>
                  <a:srgbClr val="FFFFFF"/>
                </a:solidFill>
                <a:latin typeface="Calibri"/>
                <a:cs typeface="Calibri"/>
              </a:rPr>
              <a:t>Sales</a:t>
            </a:r>
            <a:endParaRPr sz="2350">
              <a:latin typeface="Calibri"/>
              <a:cs typeface="Calibri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B825000-1F93-415B-19FE-2EA8C779B3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1052" y="1851860"/>
            <a:ext cx="8803852" cy="48597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6685" y="1041893"/>
            <a:ext cx="631285" cy="48767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466798" y="3354631"/>
            <a:ext cx="651854" cy="57773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738627" y="9035842"/>
            <a:ext cx="549372" cy="125115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32458" y="2085883"/>
            <a:ext cx="10750753" cy="531495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945" rIns="0" bIns="0" rtlCol="0">
            <a:spAutoFit/>
          </a:bodyPr>
          <a:lstStyle/>
          <a:p>
            <a:pPr marL="529590">
              <a:lnSpc>
                <a:spcPct val="100000"/>
              </a:lnSpc>
              <a:spcBef>
                <a:spcPts val="130"/>
              </a:spcBef>
            </a:pPr>
            <a:r>
              <a:rPr spc="1015" dirty="0"/>
              <a:t>Key</a:t>
            </a:r>
            <a:r>
              <a:rPr spc="400" dirty="0"/>
              <a:t> </a:t>
            </a:r>
            <a:r>
              <a:rPr spc="730" dirty="0"/>
              <a:t>Insight: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755756" y="7672995"/>
            <a:ext cx="5927090" cy="4191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550" b="1" spc="260" dirty="0">
                <a:solidFill>
                  <a:srgbClr val="FFFFFF"/>
                </a:solidFill>
                <a:latin typeface="Calibri"/>
                <a:cs typeface="Calibri"/>
              </a:rPr>
              <a:t>2.Line</a:t>
            </a:r>
            <a:r>
              <a:rPr sz="2550" b="1" spc="1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50" b="1" spc="335" dirty="0">
                <a:solidFill>
                  <a:srgbClr val="FFFFFF"/>
                </a:solidFill>
                <a:latin typeface="Calibri"/>
                <a:cs typeface="Calibri"/>
              </a:rPr>
              <a:t>Chart</a:t>
            </a:r>
            <a:r>
              <a:rPr sz="2550" b="1" spc="1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50" b="1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550" b="1" spc="1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50" b="1" spc="285" dirty="0">
                <a:solidFill>
                  <a:srgbClr val="FFFFFF"/>
                </a:solidFill>
                <a:latin typeface="Calibri"/>
                <a:cs typeface="Calibri"/>
              </a:rPr>
              <a:t>Monthly</a:t>
            </a:r>
            <a:r>
              <a:rPr sz="25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50" b="1" spc="315" dirty="0">
                <a:solidFill>
                  <a:srgbClr val="FFFFFF"/>
                </a:solidFill>
                <a:latin typeface="Calibri"/>
                <a:cs typeface="Calibri"/>
              </a:rPr>
              <a:t>Sales</a:t>
            </a:r>
            <a:r>
              <a:rPr sz="2550" b="1" spc="1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50" b="1" spc="320" dirty="0">
                <a:solidFill>
                  <a:srgbClr val="FFFFFF"/>
                </a:solidFill>
                <a:latin typeface="Calibri"/>
                <a:cs typeface="Calibri"/>
              </a:rPr>
              <a:t>Trend</a:t>
            </a:r>
            <a:endParaRPr sz="255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76128" y="3475281"/>
            <a:ext cx="95250" cy="952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76128" y="4875456"/>
            <a:ext cx="95250" cy="9524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919263" y="3194605"/>
            <a:ext cx="5705475" cy="2825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3980">
              <a:lnSpc>
                <a:spcPct val="139200"/>
              </a:lnSpc>
              <a:spcBef>
                <a:spcPts val="100"/>
              </a:spcBef>
            </a:pPr>
            <a:r>
              <a:rPr sz="2200" spc="-210" dirty="0">
                <a:solidFill>
                  <a:srgbClr val="FFFFFF"/>
                </a:solidFill>
                <a:latin typeface="Arial Black"/>
                <a:cs typeface="Arial Black"/>
              </a:rPr>
              <a:t>Sales</a:t>
            </a:r>
            <a:r>
              <a:rPr sz="2200" spc="-15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55" dirty="0">
                <a:solidFill>
                  <a:srgbClr val="FFFFFF"/>
                </a:solidFill>
                <a:latin typeface="Arial Black"/>
                <a:cs typeface="Arial Black"/>
              </a:rPr>
              <a:t>show</a:t>
            </a:r>
            <a:r>
              <a:rPr sz="2200" spc="-1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55" dirty="0">
                <a:solidFill>
                  <a:srgbClr val="FFFFFF"/>
                </a:solidFill>
                <a:latin typeface="Arial Black"/>
                <a:cs typeface="Arial Black"/>
              </a:rPr>
              <a:t>a</a:t>
            </a:r>
            <a:r>
              <a:rPr sz="2200" spc="-1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50" dirty="0">
                <a:solidFill>
                  <a:srgbClr val="FFFFFF"/>
                </a:solidFill>
                <a:latin typeface="Arial Black"/>
                <a:cs typeface="Arial Black"/>
              </a:rPr>
              <a:t>clear </a:t>
            </a:r>
            <a:r>
              <a:rPr sz="2200" spc="-95" dirty="0">
                <a:solidFill>
                  <a:srgbClr val="FFFFFF"/>
                </a:solidFill>
                <a:latin typeface="Arial Black"/>
                <a:cs typeface="Arial Black"/>
              </a:rPr>
              <a:t>upward</a:t>
            </a:r>
            <a:r>
              <a:rPr sz="2200" spc="-1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65" dirty="0">
                <a:solidFill>
                  <a:srgbClr val="FFFFFF"/>
                </a:solidFill>
                <a:latin typeface="Arial Black"/>
                <a:cs typeface="Arial Black"/>
              </a:rPr>
              <a:t>trend</a:t>
            </a:r>
            <a:r>
              <a:rPr sz="2200" spc="-1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50" dirty="0">
                <a:solidFill>
                  <a:srgbClr val="FFFFFF"/>
                </a:solidFill>
                <a:latin typeface="Arial Black"/>
                <a:cs typeface="Arial Black"/>
              </a:rPr>
              <a:t>toward </a:t>
            </a:r>
            <a:r>
              <a:rPr sz="2200" spc="-90" dirty="0">
                <a:solidFill>
                  <a:srgbClr val="FFFFFF"/>
                </a:solidFill>
                <a:latin typeface="Arial Black"/>
                <a:cs typeface="Arial Black"/>
              </a:rPr>
              <a:t>the</a:t>
            </a:r>
            <a:r>
              <a:rPr sz="2200" spc="-15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05" dirty="0">
                <a:solidFill>
                  <a:srgbClr val="FFFFFF"/>
                </a:solidFill>
                <a:latin typeface="Arial Black"/>
                <a:cs typeface="Arial Black"/>
              </a:rPr>
              <a:t>end</a:t>
            </a:r>
            <a:r>
              <a:rPr sz="2200" spc="-1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60" dirty="0">
                <a:solidFill>
                  <a:srgbClr val="FFFFFF"/>
                </a:solidFill>
                <a:latin typeface="Arial Black"/>
                <a:cs typeface="Arial Black"/>
              </a:rPr>
              <a:t>of</a:t>
            </a:r>
            <a:r>
              <a:rPr sz="2200" spc="-15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80" dirty="0">
                <a:solidFill>
                  <a:srgbClr val="FFFFFF"/>
                </a:solidFill>
                <a:latin typeface="Arial Black"/>
                <a:cs typeface="Arial Black"/>
              </a:rPr>
              <a:t>each</a:t>
            </a:r>
            <a:r>
              <a:rPr sz="2200" spc="-1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10" dirty="0">
                <a:solidFill>
                  <a:srgbClr val="FFFFFF"/>
                </a:solidFill>
                <a:latin typeface="Arial Black"/>
                <a:cs typeface="Arial Black"/>
              </a:rPr>
              <a:t>year</a:t>
            </a:r>
            <a:r>
              <a:rPr sz="2200" spc="-15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40" dirty="0">
                <a:solidFill>
                  <a:srgbClr val="FFFFFF"/>
                </a:solidFill>
                <a:latin typeface="Arial Black"/>
                <a:cs typeface="Arial Black"/>
              </a:rPr>
              <a:t>(Q4</a:t>
            </a:r>
            <a:r>
              <a:rPr sz="2200" spc="-1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Black"/>
                <a:cs typeface="Arial Black"/>
              </a:rPr>
              <a:t>spike).</a:t>
            </a:r>
            <a:endParaRPr sz="22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2200">
              <a:latin typeface="Arial Black"/>
              <a:cs typeface="Arial Black"/>
            </a:endParaRPr>
          </a:p>
          <a:p>
            <a:pPr marL="12700" marR="5080">
              <a:lnSpc>
                <a:spcPct val="139200"/>
              </a:lnSpc>
            </a:pPr>
            <a:r>
              <a:rPr sz="2200" spc="-170" dirty="0">
                <a:solidFill>
                  <a:srgbClr val="FFFFFF"/>
                </a:solidFill>
                <a:latin typeface="Arial Black"/>
                <a:cs typeface="Arial Black"/>
              </a:rPr>
              <a:t>Seasonal</a:t>
            </a:r>
            <a:r>
              <a:rPr sz="2200" spc="-1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60" dirty="0">
                <a:solidFill>
                  <a:srgbClr val="FFFFFF"/>
                </a:solidFill>
                <a:latin typeface="Arial Black"/>
                <a:cs typeface="Arial Black"/>
              </a:rPr>
              <a:t>peaks</a:t>
            </a:r>
            <a:r>
              <a:rPr sz="2200" spc="-1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75" dirty="0">
                <a:solidFill>
                  <a:srgbClr val="FFFFFF"/>
                </a:solidFill>
                <a:latin typeface="Arial Black"/>
                <a:cs typeface="Arial Black"/>
              </a:rPr>
              <a:t>often</a:t>
            </a:r>
            <a:r>
              <a:rPr sz="2200" spc="-1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65" dirty="0">
                <a:solidFill>
                  <a:srgbClr val="FFFFFF"/>
                </a:solidFill>
                <a:latin typeface="Arial Black"/>
                <a:cs typeface="Arial Black"/>
              </a:rPr>
              <a:t>occur</a:t>
            </a:r>
            <a:r>
              <a:rPr sz="2200" spc="-1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55" dirty="0">
                <a:solidFill>
                  <a:srgbClr val="FFFFFF"/>
                </a:solidFill>
                <a:latin typeface="Arial Black"/>
                <a:cs typeface="Arial Black"/>
              </a:rPr>
              <a:t>in</a:t>
            </a:r>
            <a:r>
              <a:rPr sz="2200" spc="-1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65" dirty="0">
                <a:solidFill>
                  <a:srgbClr val="FFFFFF"/>
                </a:solidFill>
                <a:latin typeface="Arial Black"/>
                <a:cs typeface="Arial Black"/>
              </a:rPr>
              <a:t>November </a:t>
            </a:r>
            <a:r>
              <a:rPr sz="2200" spc="-95" dirty="0">
                <a:solidFill>
                  <a:srgbClr val="FFFFFF"/>
                </a:solidFill>
                <a:latin typeface="Arial Black"/>
                <a:cs typeface="Arial Black"/>
              </a:rPr>
              <a:t>and</a:t>
            </a:r>
            <a:r>
              <a:rPr sz="22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40" dirty="0">
                <a:solidFill>
                  <a:srgbClr val="FFFFFF"/>
                </a:solidFill>
                <a:latin typeface="Arial Black"/>
                <a:cs typeface="Arial Black"/>
              </a:rPr>
              <a:t>December,</a:t>
            </a:r>
            <a:r>
              <a:rPr sz="2200" spc="-1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05" dirty="0">
                <a:solidFill>
                  <a:srgbClr val="FFFFFF"/>
                </a:solidFill>
                <a:latin typeface="Arial Black"/>
                <a:cs typeface="Arial Black"/>
              </a:rPr>
              <a:t>likely</a:t>
            </a:r>
            <a:r>
              <a:rPr sz="22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05" dirty="0">
                <a:solidFill>
                  <a:srgbClr val="FFFFFF"/>
                </a:solidFill>
                <a:latin typeface="Arial Black"/>
                <a:cs typeface="Arial Black"/>
              </a:rPr>
              <a:t>due</a:t>
            </a:r>
            <a:r>
              <a:rPr sz="2200" spc="-1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75" dirty="0">
                <a:solidFill>
                  <a:srgbClr val="FFFFFF"/>
                </a:solidFill>
                <a:latin typeface="Arial Black"/>
                <a:cs typeface="Arial Black"/>
              </a:rPr>
              <a:t>to</a:t>
            </a:r>
            <a:r>
              <a:rPr sz="2200" spc="-1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Black"/>
                <a:cs typeface="Arial Black"/>
              </a:rPr>
              <a:t>holiday shopping.</a:t>
            </a:r>
            <a:endParaRPr sz="2200">
              <a:latin typeface="Arial Black"/>
              <a:cs typeface="Arial Black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76128" y="6742355"/>
            <a:ext cx="95250" cy="9524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919263" y="6461680"/>
            <a:ext cx="5769610" cy="142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9200"/>
              </a:lnSpc>
              <a:spcBef>
                <a:spcPts val="100"/>
              </a:spcBef>
            </a:pPr>
            <a:r>
              <a:rPr sz="2200" spc="-180" dirty="0">
                <a:solidFill>
                  <a:srgbClr val="FFFFFF"/>
                </a:solidFill>
                <a:latin typeface="Arial Black"/>
                <a:cs typeface="Arial Black"/>
              </a:rPr>
              <a:t>Some</a:t>
            </a:r>
            <a:r>
              <a:rPr sz="2200" spc="-1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95" dirty="0">
                <a:solidFill>
                  <a:srgbClr val="FFFFFF"/>
                </a:solidFill>
                <a:latin typeface="Arial Black"/>
                <a:cs typeface="Arial Black"/>
              </a:rPr>
              <a:t>months,</a:t>
            </a:r>
            <a:r>
              <a:rPr sz="2200" spc="-1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05" dirty="0">
                <a:solidFill>
                  <a:srgbClr val="FFFFFF"/>
                </a:solidFill>
                <a:latin typeface="Arial Black"/>
                <a:cs typeface="Arial Black"/>
              </a:rPr>
              <a:t>like</a:t>
            </a:r>
            <a:r>
              <a:rPr sz="2200" spc="-1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80" dirty="0">
                <a:solidFill>
                  <a:srgbClr val="FFFFFF"/>
                </a:solidFill>
                <a:latin typeface="Arial Black"/>
                <a:cs typeface="Arial Black"/>
              </a:rPr>
              <a:t>January</a:t>
            </a:r>
            <a:r>
              <a:rPr sz="2200" spc="-1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95" dirty="0">
                <a:solidFill>
                  <a:srgbClr val="FFFFFF"/>
                </a:solidFill>
                <a:latin typeface="Arial Black"/>
                <a:cs typeface="Arial Black"/>
              </a:rPr>
              <a:t>and</a:t>
            </a:r>
            <a:r>
              <a:rPr sz="2200" spc="-1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70" dirty="0">
                <a:solidFill>
                  <a:srgbClr val="FFFFFF"/>
                </a:solidFill>
                <a:latin typeface="Arial Black"/>
                <a:cs typeface="Arial Black"/>
              </a:rPr>
              <a:t>February, </a:t>
            </a:r>
            <a:r>
              <a:rPr sz="2200" spc="-105" dirty="0">
                <a:solidFill>
                  <a:srgbClr val="FFFFFF"/>
                </a:solidFill>
                <a:latin typeface="Arial Black"/>
                <a:cs typeface="Arial Black"/>
              </a:rPr>
              <a:t>may</a:t>
            </a:r>
            <a:r>
              <a:rPr sz="2200" spc="-1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14" dirty="0">
                <a:solidFill>
                  <a:srgbClr val="FFFFFF"/>
                </a:solidFill>
                <a:latin typeface="Arial Black"/>
                <a:cs typeface="Arial Black"/>
              </a:rPr>
              <a:t>reflect</a:t>
            </a:r>
            <a:r>
              <a:rPr sz="2200" spc="-1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14" dirty="0">
                <a:solidFill>
                  <a:srgbClr val="FFFFFF"/>
                </a:solidFill>
                <a:latin typeface="Arial Black"/>
                <a:cs typeface="Arial Black"/>
              </a:rPr>
              <a:t>lower</a:t>
            </a:r>
            <a:r>
              <a:rPr sz="2200" spc="-1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85" dirty="0">
                <a:solidFill>
                  <a:srgbClr val="FFFFFF"/>
                </a:solidFill>
                <a:latin typeface="Arial Black"/>
                <a:cs typeface="Arial Black"/>
              </a:rPr>
              <a:t>sales</a:t>
            </a:r>
            <a:r>
              <a:rPr sz="2200" spc="-1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20" dirty="0">
                <a:solidFill>
                  <a:srgbClr val="FFFFFF"/>
                </a:solidFill>
                <a:latin typeface="Arial Black"/>
                <a:cs typeface="Arial Black"/>
              </a:rPr>
              <a:t>activity,</a:t>
            </a:r>
            <a:r>
              <a:rPr sz="2200" spc="-1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Black"/>
                <a:cs typeface="Arial Black"/>
              </a:rPr>
              <a:t>showing </a:t>
            </a:r>
            <a:r>
              <a:rPr sz="2200" spc="-50" dirty="0">
                <a:solidFill>
                  <a:srgbClr val="FFFFFF"/>
                </a:solidFill>
                <a:latin typeface="Arial Black"/>
                <a:cs typeface="Arial Black"/>
              </a:rPr>
              <a:t>seasonality.</a:t>
            </a:r>
            <a:endParaRPr sz="22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6685" y="1041893"/>
            <a:ext cx="631285" cy="48767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54899" y="1659900"/>
            <a:ext cx="223236" cy="22323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914142" y="4949439"/>
            <a:ext cx="345156" cy="34515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684562" y="9301437"/>
            <a:ext cx="1603435" cy="98556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827819" y="1883136"/>
            <a:ext cx="7696199" cy="577214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5345" rIns="0" bIns="0" rtlCol="0">
            <a:spAutoFit/>
          </a:bodyPr>
          <a:lstStyle/>
          <a:p>
            <a:pPr marL="681990">
              <a:lnSpc>
                <a:spcPct val="100000"/>
              </a:lnSpc>
              <a:spcBef>
                <a:spcPts val="130"/>
              </a:spcBef>
            </a:pPr>
            <a:r>
              <a:rPr spc="1015" dirty="0"/>
              <a:t>Key</a:t>
            </a:r>
            <a:r>
              <a:rPr spc="400" dirty="0"/>
              <a:t> </a:t>
            </a:r>
            <a:r>
              <a:rPr spc="730" dirty="0"/>
              <a:t>Insight:</a:t>
            </a:r>
          </a:p>
        </p:txBody>
      </p:sp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73146" y="3526183"/>
            <a:ext cx="95250" cy="952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73146" y="4926358"/>
            <a:ext cx="95250" cy="952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73146" y="6326533"/>
            <a:ext cx="95250" cy="9524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816282" y="3245506"/>
            <a:ext cx="6057265" cy="4225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5730" algn="just">
              <a:lnSpc>
                <a:spcPct val="139200"/>
              </a:lnSpc>
              <a:spcBef>
                <a:spcPts val="100"/>
              </a:spcBef>
            </a:pPr>
            <a:r>
              <a:rPr sz="2200" spc="-110" dirty="0">
                <a:solidFill>
                  <a:srgbClr val="FFFFFF"/>
                </a:solidFill>
                <a:latin typeface="Arial Black"/>
                <a:cs typeface="Arial Black"/>
              </a:rPr>
              <a:t>California</a:t>
            </a:r>
            <a:r>
              <a:rPr sz="2200" spc="-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30" dirty="0">
                <a:solidFill>
                  <a:srgbClr val="FFFFFF"/>
                </a:solidFill>
                <a:latin typeface="Arial Black"/>
                <a:cs typeface="Arial Black"/>
              </a:rPr>
              <a:t>typically</a:t>
            </a:r>
            <a:r>
              <a:rPr sz="2200" spc="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25" dirty="0">
                <a:solidFill>
                  <a:srgbClr val="FFFFFF"/>
                </a:solidFill>
                <a:latin typeface="Arial Black"/>
                <a:cs typeface="Arial Black"/>
              </a:rPr>
              <a:t>dominates</a:t>
            </a:r>
            <a:r>
              <a:rPr sz="2200" spc="1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229" dirty="0">
                <a:solidFill>
                  <a:srgbClr val="FFFFFF"/>
                </a:solidFill>
                <a:latin typeface="Arial Black"/>
                <a:cs typeface="Arial Black"/>
              </a:rPr>
              <a:t>sales</a:t>
            </a:r>
            <a:r>
              <a:rPr sz="2200" spc="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40" dirty="0">
                <a:solidFill>
                  <a:srgbClr val="FFFFFF"/>
                </a:solidFill>
                <a:latin typeface="Arial Black"/>
                <a:cs typeface="Arial Black"/>
              </a:rPr>
              <a:t>across </a:t>
            </a:r>
            <a:r>
              <a:rPr sz="2200" spc="-95" dirty="0">
                <a:solidFill>
                  <a:srgbClr val="FFFFFF"/>
                </a:solidFill>
                <a:latin typeface="Arial Black"/>
                <a:cs typeface="Arial Black"/>
              </a:rPr>
              <a:t>all</a:t>
            </a:r>
            <a:r>
              <a:rPr sz="22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55" dirty="0">
                <a:solidFill>
                  <a:srgbClr val="FFFFFF"/>
                </a:solidFill>
                <a:latin typeface="Arial Black"/>
                <a:cs typeface="Arial Black"/>
              </a:rPr>
              <a:t>categories,</a:t>
            </a:r>
            <a:r>
              <a:rPr sz="22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55" dirty="0">
                <a:solidFill>
                  <a:srgbClr val="FFFFFF"/>
                </a:solidFill>
                <a:latin typeface="Arial Black"/>
                <a:cs typeface="Arial Black"/>
              </a:rPr>
              <a:t>especially</a:t>
            </a:r>
            <a:r>
              <a:rPr sz="2200" spc="-1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50" dirty="0">
                <a:solidFill>
                  <a:srgbClr val="FFFFFF"/>
                </a:solidFill>
                <a:latin typeface="Arial Black"/>
                <a:cs typeface="Arial Black"/>
              </a:rPr>
              <a:t>Technology.</a:t>
            </a:r>
            <a:endParaRPr sz="2200" dirty="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2200" dirty="0">
              <a:latin typeface="Arial Black"/>
              <a:cs typeface="Arial Black"/>
            </a:endParaRPr>
          </a:p>
          <a:p>
            <a:pPr marL="12700" marR="141605" algn="just">
              <a:lnSpc>
                <a:spcPct val="139200"/>
              </a:lnSpc>
            </a:pPr>
            <a:r>
              <a:rPr sz="2200" spc="-220" dirty="0">
                <a:solidFill>
                  <a:srgbClr val="FFFFFF"/>
                </a:solidFill>
                <a:latin typeface="Arial Black"/>
                <a:cs typeface="Arial Black"/>
              </a:rPr>
              <a:t>New</a:t>
            </a:r>
            <a:r>
              <a:rPr sz="2200" spc="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80" dirty="0">
                <a:solidFill>
                  <a:srgbClr val="FFFFFF"/>
                </a:solidFill>
                <a:latin typeface="Arial Black"/>
                <a:cs typeface="Arial Black"/>
              </a:rPr>
              <a:t>York</a:t>
            </a:r>
            <a:r>
              <a:rPr sz="2200" spc="-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20" dirty="0">
                <a:solidFill>
                  <a:srgbClr val="FFFFFF"/>
                </a:solidFill>
                <a:latin typeface="Arial Black"/>
                <a:cs typeface="Arial Black"/>
              </a:rPr>
              <a:t>and</a:t>
            </a:r>
            <a:r>
              <a:rPr sz="2200" spc="-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280" dirty="0">
                <a:solidFill>
                  <a:srgbClr val="FFFFFF"/>
                </a:solidFill>
                <a:latin typeface="Arial Black"/>
                <a:cs typeface="Arial Black"/>
              </a:rPr>
              <a:t>Texas</a:t>
            </a:r>
            <a:r>
              <a:rPr sz="2200" spc="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90" dirty="0">
                <a:solidFill>
                  <a:srgbClr val="FFFFFF"/>
                </a:solidFill>
                <a:latin typeface="Arial Black"/>
                <a:cs typeface="Arial Black"/>
              </a:rPr>
              <a:t>often</a:t>
            </a:r>
            <a:r>
              <a:rPr sz="2200" spc="-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14" dirty="0">
                <a:solidFill>
                  <a:srgbClr val="FFFFFF"/>
                </a:solidFill>
                <a:latin typeface="Arial Black"/>
                <a:cs typeface="Arial Black"/>
              </a:rPr>
              <a:t>follow,</a:t>
            </a:r>
            <a:r>
              <a:rPr sz="220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00" dirty="0">
                <a:solidFill>
                  <a:srgbClr val="FFFFFF"/>
                </a:solidFill>
                <a:latin typeface="Arial Black"/>
                <a:cs typeface="Arial Black"/>
              </a:rPr>
              <a:t>showing </a:t>
            </a:r>
            <a:r>
              <a:rPr sz="2200" spc="-114" dirty="0">
                <a:solidFill>
                  <a:srgbClr val="FFFFFF"/>
                </a:solidFill>
                <a:latin typeface="Arial Black"/>
                <a:cs typeface="Arial Black"/>
              </a:rPr>
              <a:t>strong</a:t>
            </a:r>
            <a:r>
              <a:rPr sz="22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05" dirty="0">
                <a:solidFill>
                  <a:srgbClr val="FFFFFF"/>
                </a:solidFill>
                <a:latin typeface="Arial Black"/>
                <a:cs typeface="Arial Black"/>
              </a:rPr>
              <a:t>performance</a:t>
            </a:r>
            <a:r>
              <a:rPr sz="2200" spc="-1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55" dirty="0">
                <a:solidFill>
                  <a:srgbClr val="FFFFFF"/>
                </a:solidFill>
                <a:latin typeface="Arial Black"/>
                <a:cs typeface="Arial Black"/>
              </a:rPr>
              <a:t>in</a:t>
            </a:r>
            <a:r>
              <a:rPr sz="2200" spc="-1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20" dirty="0">
                <a:solidFill>
                  <a:srgbClr val="FFFFFF"/>
                </a:solidFill>
                <a:latin typeface="Arial Black"/>
                <a:cs typeface="Arial Black"/>
              </a:rPr>
              <a:t>Office</a:t>
            </a:r>
            <a:r>
              <a:rPr sz="2200" spc="-1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Arial Black"/>
                <a:cs typeface="Arial Black"/>
              </a:rPr>
              <a:t>Supplies.</a:t>
            </a:r>
            <a:endParaRPr sz="2200" dirty="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2200" dirty="0">
              <a:latin typeface="Arial Black"/>
              <a:cs typeface="Arial Black"/>
            </a:endParaRPr>
          </a:p>
          <a:p>
            <a:pPr marL="12700" marR="5080" algn="just">
              <a:lnSpc>
                <a:spcPct val="139200"/>
              </a:lnSpc>
            </a:pPr>
            <a:r>
              <a:rPr sz="2200" spc="-235" dirty="0">
                <a:solidFill>
                  <a:srgbClr val="FFFFFF"/>
                </a:solidFill>
                <a:latin typeface="Arial Black"/>
                <a:cs typeface="Arial Black"/>
              </a:rPr>
              <a:t>Some</a:t>
            </a:r>
            <a:r>
              <a:rPr sz="2200" spc="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80" dirty="0">
                <a:solidFill>
                  <a:srgbClr val="FFFFFF"/>
                </a:solidFill>
                <a:latin typeface="Arial Black"/>
                <a:cs typeface="Arial Black"/>
              </a:rPr>
              <a:t>states</a:t>
            </a:r>
            <a:r>
              <a:rPr sz="2200" spc="-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40" dirty="0">
                <a:solidFill>
                  <a:srgbClr val="FFFFFF"/>
                </a:solidFill>
                <a:latin typeface="Arial Black"/>
                <a:cs typeface="Arial Black"/>
              </a:rPr>
              <a:t>like</a:t>
            </a:r>
            <a:r>
              <a:rPr sz="2200" spc="-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20" dirty="0">
                <a:solidFill>
                  <a:srgbClr val="FFFFFF"/>
                </a:solidFill>
                <a:latin typeface="Arial Black"/>
                <a:cs typeface="Arial Black"/>
              </a:rPr>
              <a:t>Wyoming</a:t>
            </a:r>
            <a:r>
              <a:rPr sz="2200" spc="-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75" dirty="0">
                <a:solidFill>
                  <a:srgbClr val="FFFFFF"/>
                </a:solidFill>
                <a:latin typeface="Arial Black"/>
                <a:cs typeface="Arial Black"/>
              </a:rPr>
              <a:t>or</a:t>
            </a:r>
            <a:r>
              <a:rPr sz="2200" spc="-7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90" dirty="0">
                <a:solidFill>
                  <a:srgbClr val="FFFFFF"/>
                </a:solidFill>
                <a:latin typeface="Arial Black"/>
                <a:cs typeface="Arial Black"/>
              </a:rPr>
              <a:t>Montana</a:t>
            </a:r>
            <a:r>
              <a:rPr sz="2200" spc="-25" dirty="0">
                <a:solidFill>
                  <a:srgbClr val="FFFFFF"/>
                </a:solidFill>
                <a:latin typeface="Arial Black"/>
                <a:cs typeface="Arial Black"/>
              </a:rPr>
              <a:t> may </a:t>
            </a:r>
            <a:r>
              <a:rPr sz="2200" spc="-200" dirty="0">
                <a:solidFill>
                  <a:srgbClr val="FFFFFF"/>
                </a:solidFill>
                <a:latin typeface="Arial Black"/>
                <a:cs typeface="Arial Black"/>
              </a:rPr>
              <a:t>show</a:t>
            </a:r>
            <a:r>
              <a:rPr sz="2200" spc="1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90" dirty="0">
                <a:solidFill>
                  <a:srgbClr val="FFFFFF"/>
                </a:solidFill>
                <a:latin typeface="Arial Black"/>
                <a:cs typeface="Arial Black"/>
              </a:rPr>
              <a:t>low</a:t>
            </a:r>
            <a:r>
              <a:rPr sz="2200" spc="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75" dirty="0">
                <a:solidFill>
                  <a:srgbClr val="FFFFFF"/>
                </a:solidFill>
                <a:latin typeface="Arial Black"/>
                <a:cs typeface="Arial Black"/>
              </a:rPr>
              <a:t>or</a:t>
            </a:r>
            <a:r>
              <a:rPr sz="2200" spc="-5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40" dirty="0">
                <a:solidFill>
                  <a:srgbClr val="FFFFFF"/>
                </a:solidFill>
                <a:latin typeface="Arial Black"/>
                <a:cs typeface="Arial Black"/>
              </a:rPr>
              <a:t>negligible</a:t>
            </a:r>
            <a:r>
              <a:rPr sz="2200" spc="-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204" dirty="0">
                <a:solidFill>
                  <a:srgbClr val="FFFFFF"/>
                </a:solidFill>
                <a:latin typeface="Arial Black"/>
                <a:cs typeface="Arial Black"/>
              </a:rPr>
              <a:t>sales,</a:t>
            </a:r>
            <a:r>
              <a:rPr sz="2200" spc="2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25" dirty="0">
                <a:solidFill>
                  <a:srgbClr val="FFFFFF"/>
                </a:solidFill>
                <a:latin typeface="Arial Black"/>
                <a:cs typeface="Arial Black"/>
              </a:rPr>
              <a:t>indicating</a:t>
            </a:r>
            <a:r>
              <a:rPr sz="220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85" dirty="0">
                <a:solidFill>
                  <a:srgbClr val="FFFFFF"/>
                </a:solidFill>
                <a:latin typeface="Arial Black"/>
                <a:cs typeface="Arial Black"/>
              </a:rPr>
              <a:t>less </a:t>
            </a:r>
            <a:r>
              <a:rPr sz="2200" spc="-90" dirty="0">
                <a:solidFill>
                  <a:srgbClr val="FFFFFF"/>
                </a:solidFill>
                <a:latin typeface="Arial Black"/>
                <a:cs typeface="Arial Black"/>
              </a:rPr>
              <a:t>market</a:t>
            </a:r>
            <a:r>
              <a:rPr sz="2200" spc="-1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Black"/>
                <a:cs typeface="Arial Black"/>
              </a:rPr>
              <a:t>penetration.</a:t>
            </a:r>
            <a:endParaRPr sz="2200" dirty="0">
              <a:latin typeface="Arial Black"/>
              <a:cs typeface="Arial Black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226064" y="7876451"/>
            <a:ext cx="6362065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b="1" spc="225" dirty="0">
                <a:solidFill>
                  <a:srgbClr val="FFFFFF"/>
                </a:solidFill>
                <a:latin typeface="Calibri"/>
                <a:cs typeface="Calibri"/>
              </a:rPr>
              <a:t>3.Heatmap</a:t>
            </a:r>
            <a:r>
              <a:rPr sz="1750" b="1" spc="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1750" b="1" spc="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b="1" spc="220" dirty="0">
                <a:solidFill>
                  <a:srgbClr val="FFFFFF"/>
                </a:solidFill>
                <a:latin typeface="Calibri"/>
                <a:cs typeface="Calibri"/>
              </a:rPr>
              <a:t>Sales</a:t>
            </a:r>
            <a:r>
              <a:rPr sz="1750" b="1" spc="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b="1" spc="200" dirty="0">
                <a:solidFill>
                  <a:srgbClr val="FFFFFF"/>
                </a:solidFill>
                <a:latin typeface="Calibri"/>
                <a:cs typeface="Calibri"/>
              </a:rPr>
              <a:t>Distribution</a:t>
            </a:r>
            <a:r>
              <a:rPr sz="1750" b="1" spc="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b="1" spc="26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1750" b="1" spc="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b="1" spc="215" dirty="0">
                <a:solidFill>
                  <a:srgbClr val="FFFFFF"/>
                </a:solidFill>
                <a:latin typeface="Calibri"/>
                <a:cs typeface="Calibri"/>
              </a:rPr>
              <a:t>State</a:t>
            </a:r>
            <a:r>
              <a:rPr sz="1750" b="1" spc="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b="1" spc="265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750" b="1" spc="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b="1" spc="240" dirty="0">
                <a:solidFill>
                  <a:srgbClr val="FFFFFF"/>
                </a:solidFill>
                <a:latin typeface="Calibri"/>
                <a:cs typeface="Calibri"/>
              </a:rPr>
              <a:t>Category</a:t>
            </a:r>
            <a:endParaRPr sz="1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6685" y="1041893"/>
            <a:ext cx="631285" cy="48767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20764" y="1736979"/>
            <a:ext cx="223236" cy="22323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6121" y="7826175"/>
            <a:ext cx="345156" cy="34515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684562" y="9301437"/>
            <a:ext cx="1603435" cy="98556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423115" y="1848597"/>
            <a:ext cx="5734049" cy="523874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5345" rIns="0" bIns="0" rtlCol="0">
            <a:spAutoFit/>
          </a:bodyPr>
          <a:lstStyle/>
          <a:p>
            <a:pPr marL="681990">
              <a:lnSpc>
                <a:spcPct val="100000"/>
              </a:lnSpc>
              <a:spcBef>
                <a:spcPts val="130"/>
              </a:spcBef>
            </a:pPr>
            <a:r>
              <a:rPr spc="1015" dirty="0"/>
              <a:t>Key</a:t>
            </a:r>
            <a:r>
              <a:rPr spc="400" dirty="0"/>
              <a:t> </a:t>
            </a:r>
            <a:r>
              <a:rPr spc="730" dirty="0"/>
              <a:t>Insight:</a:t>
            </a:r>
          </a:p>
        </p:txBody>
      </p:sp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20353" y="3125128"/>
            <a:ext cx="95250" cy="952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20353" y="4525303"/>
            <a:ext cx="95250" cy="952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20353" y="5925478"/>
            <a:ext cx="95250" cy="9524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663488" y="2844452"/>
            <a:ext cx="5579110" cy="3759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9200"/>
              </a:lnSpc>
              <a:spcBef>
                <a:spcPts val="100"/>
              </a:spcBef>
            </a:pPr>
            <a:r>
              <a:rPr sz="2200" spc="-180" dirty="0">
                <a:solidFill>
                  <a:srgbClr val="FFFFFF"/>
                </a:solidFill>
                <a:latin typeface="Arial Black"/>
                <a:cs typeface="Arial Black"/>
              </a:rPr>
              <a:t>The</a:t>
            </a:r>
            <a:r>
              <a:rPr sz="22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45" dirty="0">
                <a:solidFill>
                  <a:srgbClr val="FFFFFF"/>
                </a:solidFill>
                <a:latin typeface="Arial Black"/>
                <a:cs typeface="Arial Black"/>
              </a:rPr>
              <a:t>West</a:t>
            </a:r>
            <a:r>
              <a:rPr sz="22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05" dirty="0">
                <a:solidFill>
                  <a:srgbClr val="FFFFFF"/>
                </a:solidFill>
                <a:latin typeface="Arial Black"/>
                <a:cs typeface="Arial Black"/>
              </a:rPr>
              <a:t>region</a:t>
            </a:r>
            <a:r>
              <a:rPr sz="22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10" dirty="0">
                <a:solidFill>
                  <a:srgbClr val="FFFFFF"/>
                </a:solidFill>
                <a:latin typeface="Arial Black"/>
                <a:cs typeface="Arial Black"/>
              </a:rPr>
              <a:t>usually</a:t>
            </a:r>
            <a:r>
              <a:rPr sz="22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10" dirty="0">
                <a:solidFill>
                  <a:srgbClr val="FFFFFF"/>
                </a:solidFill>
                <a:latin typeface="Arial Black"/>
                <a:cs typeface="Arial Black"/>
              </a:rPr>
              <a:t>contributes</a:t>
            </a:r>
            <a:r>
              <a:rPr sz="22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Arial Black"/>
                <a:cs typeface="Arial Black"/>
              </a:rPr>
              <a:t>the </a:t>
            </a:r>
            <a:r>
              <a:rPr sz="2200" spc="-125" dirty="0">
                <a:solidFill>
                  <a:srgbClr val="FFFFFF"/>
                </a:solidFill>
                <a:latin typeface="Arial Black"/>
                <a:cs typeface="Arial Black"/>
              </a:rPr>
              <a:t>highest</a:t>
            </a:r>
            <a:r>
              <a:rPr sz="2200" spc="-15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25" dirty="0">
                <a:solidFill>
                  <a:srgbClr val="FFFFFF"/>
                </a:solidFill>
                <a:latin typeface="Arial Black"/>
                <a:cs typeface="Arial Black"/>
              </a:rPr>
              <a:t>share</a:t>
            </a:r>
            <a:r>
              <a:rPr sz="2200" spc="-15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60" dirty="0">
                <a:solidFill>
                  <a:srgbClr val="FFFFFF"/>
                </a:solidFill>
                <a:latin typeface="Arial Black"/>
                <a:cs typeface="Arial Black"/>
              </a:rPr>
              <a:t>of</a:t>
            </a:r>
            <a:r>
              <a:rPr sz="2200" spc="-15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80" dirty="0">
                <a:solidFill>
                  <a:srgbClr val="FFFFFF"/>
                </a:solidFill>
                <a:latin typeface="Arial Black"/>
                <a:cs typeface="Arial Black"/>
              </a:rPr>
              <a:t>total</a:t>
            </a:r>
            <a:r>
              <a:rPr sz="2200" spc="-1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Black"/>
                <a:cs typeface="Arial Black"/>
              </a:rPr>
              <a:t>sales.</a:t>
            </a:r>
            <a:endParaRPr sz="22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2200">
              <a:latin typeface="Arial Black"/>
              <a:cs typeface="Arial Black"/>
            </a:endParaRPr>
          </a:p>
          <a:p>
            <a:pPr marL="12700" marR="528955">
              <a:lnSpc>
                <a:spcPct val="139200"/>
              </a:lnSpc>
            </a:pPr>
            <a:r>
              <a:rPr sz="2200" spc="-204" dirty="0">
                <a:solidFill>
                  <a:srgbClr val="FFFFFF"/>
                </a:solidFill>
                <a:latin typeface="Arial Black"/>
                <a:cs typeface="Arial Black"/>
              </a:rPr>
              <a:t>East</a:t>
            </a:r>
            <a:r>
              <a:rPr sz="2200" spc="-1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95" dirty="0">
                <a:solidFill>
                  <a:srgbClr val="FFFFFF"/>
                </a:solidFill>
                <a:latin typeface="Arial Black"/>
                <a:cs typeface="Arial Black"/>
              </a:rPr>
              <a:t>and</a:t>
            </a:r>
            <a:r>
              <a:rPr sz="2200" spc="-1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14" dirty="0">
                <a:solidFill>
                  <a:srgbClr val="FFFFFF"/>
                </a:solidFill>
                <a:latin typeface="Arial Black"/>
                <a:cs typeface="Arial Black"/>
              </a:rPr>
              <a:t>Central</a:t>
            </a:r>
            <a:r>
              <a:rPr sz="22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30" dirty="0">
                <a:solidFill>
                  <a:srgbClr val="FFFFFF"/>
                </a:solidFill>
                <a:latin typeface="Arial Black"/>
                <a:cs typeface="Arial Black"/>
              </a:rPr>
              <a:t>regions</a:t>
            </a:r>
            <a:r>
              <a:rPr sz="2200" spc="-1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00" dirty="0">
                <a:solidFill>
                  <a:srgbClr val="FFFFFF"/>
                </a:solidFill>
                <a:latin typeface="Arial Black"/>
                <a:cs typeface="Arial Black"/>
              </a:rPr>
              <a:t>follow</a:t>
            </a:r>
            <a:r>
              <a:rPr sz="22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Arial Black"/>
                <a:cs typeface="Arial Black"/>
              </a:rPr>
              <a:t>with </a:t>
            </a:r>
            <a:r>
              <a:rPr sz="2200" spc="-100" dirty="0">
                <a:solidFill>
                  <a:srgbClr val="FFFFFF"/>
                </a:solidFill>
                <a:latin typeface="Arial Black"/>
                <a:cs typeface="Arial Black"/>
              </a:rPr>
              <a:t>moderate</a:t>
            </a:r>
            <a:r>
              <a:rPr sz="2200" spc="-1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85" dirty="0">
                <a:solidFill>
                  <a:srgbClr val="FFFFFF"/>
                </a:solidFill>
                <a:latin typeface="Arial Black"/>
                <a:cs typeface="Arial Black"/>
              </a:rPr>
              <a:t>sales</a:t>
            </a:r>
            <a:r>
              <a:rPr sz="2200" spc="-1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Arial Black"/>
                <a:cs typeface="Arial Black"/>
              </a:rPr>
              <a:t>contributions.</a:t>
            </a:r>
            <a:endParaRPr sz="22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2200">
              <a:latin typeface="Arial Black"/>
              <a:cs typeface="Arial Black"/>
            </a:endParaRPr>
          </a:p>
          <a:p>
            <a:pPr marL="12700" marR="59055">
              <a:lnSpc>
                <a:spcPct val="139200"/>
              </a:lnSpc>
            </a:pPr>
            <a:r>
              <a:rPr sz="2200" spc="-180" dirty="0">
                <a:solidFill>
                  <a:srgbClr val="FFFFFF"/>
                </a:solidFill>
                <a:latin typeface="Arial Black"/>
                <a:cs typeface="Arial Black"/>
              </a:rPr>
              <a:t>The</a:t>
            </a:r>
            <a:r>
              <a:rPr sz="2200" spc="-15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20" dirty="0">
                <a:solidFill>
                  <a:srgbClr val="FFFFFF"/>
                </a:solidFill>
                <a:latin typeface="Arial Black"/>
                <a:cs typeface="Arial Black"/>
              </a:rPr>
              <a:t>South</a:t>
            </a:r>
            <a:r>
              <a:rPr sz="2200" spc="-15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75" dirty="0">
                <a:solidFill>
                  <a:srgbClr val="FFFFFF"/>
                </a:solidFill>
                <a:latin typeface="Arial Black"/>
                <a:cs typeface="Arial Black"/>
              </a:rPr>
              <a:t>often</a:t>
            </a:r>
            <a:r>
              <a:rPr sz="2200" spc="-15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80" dirty="0">
                <a:solidFill>
                  <a:srgbClr val="FFFFFF"/>
                </a:solidFill>
                <a:latin typeface="Arial Black"/>
                <a:cs typeface="Arial Black"/>
              </a:rPr>
              <a:t>lags</a:t>
            </a:r>
            <a:r>
              <a:rPr sz="2200" spc="-15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55" dirty="0">
                <a:solidFill>
                  <a:srgbClr val="FFFFFF"/>
                </a:solidFill>
                <a:latin typeface="Arial Black"/>
                <a:cs typeface="Arial Black"/>
              </a:rPr>
              <a:t>in</a:t>
            </a:r>
            <a:r>
              <a:rPr sz="2200" spc="-15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75" dirty="0">
                <a:solidFill>
                  <a:srgbClr val="FFFFFF"/>
                </a:solidFill>
                <a:latin typeface="Arial Black"/>
                <a:cs typeface="Arial Black"/>
              </a:rPr>
              <a:t>sales,</a:t>
            </a:r>
            <a:r>
              <a:rPr sz="2200" spc="-15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80" dirty="0">
                <a:solidFill>
                  <a:srgbClr val="FFFFFF"/>
                </a:solidFill>
                <a:latin typeface="Arial Black"/>
                <a:cs typeface="Arial Black"/>
              </a:rPr>
              <a:t>indicating </a:t>
            </a:r>
            <a:r>
              <a:rPr sz="2200" spc="-90" dirty="0">
                <a:solidFill>
                  <a:srgbClr val="FFFFFF"/>
                </a:solidFill>
                <a:latin typeface="Arial Black"/>
                <a:cs typeface="Arial Black"/>
              </a:rPr>
              <a:t>potential</a:t>
            </a:r>
            <a:r>
              <a:rPr sz="2200" spc="-1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40" dirty="0">
                <a:solidFill>
                  <a:srgbClr val="FFFFFF"/>
                </a:solidFill>
                <a:latin typeface="Arial Black"/>
                <a:cs typeface="Arial Black"/>
              </a:rPr>
              <a:t>for</a:t>
            </a:r>
            <a:r>
              <a:rPr sz="2200" spc="-1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90" dirty="0">
                <a:solidFill>
                  <a:srgbClr val="FFFFFF"/>
                </a:solidFill>
                <a:latin typeface="Arial Black"/>
                <a:cs typeface="Arial Black"/>
              </a:rPr>
              <a:t>market</a:t>
            </a:r>
            <a:r>
              <a:rPr sz="2200" spc="-1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Black"/>
                <a:cs typeface="Arial Black"/>
              </a:rPr>
              <a:t>growth.</a:t>
            </a:r>
            <a:endParaRPr sz="2200">
              <a:latin typeface="Arial Black"/>
              <a:cs typeface="Arial Black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139201" y="7435158"/>
            <a:ext cx="6299200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50" b="1" spc="260" dirty="0">
                <a:solidFill>
                  <a:srgbClr val="FFFFFF"/>
                </a:solidFill>
                <a:latin typeface="Calibri"/>
                <a:cs typeface="Calibri"/>
              </a:rPr>
              <a:t>4.Sales</a:t>
            </a:r>
            <a:r>
              <a:rPr sz="2250" b="1" spc="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50" b="1" spc="254" dirty="0">
                <a:solidFill>
                  <a:srgbClr val="FFFFFF"/>
                </a:solidFill>
                <a:latin typeface="Calibri"/>
                <a:cs typeface="Calibri"/>
              </a:rPr>
              <a:t>Distribution</a:t>
            </a:r>
            <a:r>
              <a:rPr sz="2250" b="1" spc="1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50" b="1" spc="32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2250" b="1" spc="1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50" b="1" spc="330" dirty="0">
                <a:solidFill>
                  <a:srgbClr val="FFFFFF"/>
                </a:solidFill>
                <a:latin typeface="Calibri"/>
                <a:cs typeface="Calibri"/>
              </a:rPr>
              <a:t>Region</a:t>
            </a:r>
            <a:r>
              <a:rPr sz="2250" b="1" spc="1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50" b="1" spc="250" dirty="0">
                <a:solidFill>
                  <a:srgbClr val="FFFFFF"/>
                </a:solidFill>
                <a:latin typeface="Calibri"/>
                <a:cs typeface="Calibri"/>
              </a:rPr>
              <a:t>(Pie</a:t>
            </a:r>
            <a:r>
              <a:rPr sz="2250" b="1" spc="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50" b="1" spc="260" dirty="0">
                <a:solidFill>
                  <a:srgbClr val="FFFFFF"/>
                </a:solidFill>
                <a:latin typeface="Calibri"/>
                <a:cs typeface="Calibri"/>
              </a:rPr>
              <a:t>Chart)</a:t>
            </a:r>
            <a:endParaRPr sz="2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46784" y="1659900"/>
            <a:ext cx="223236" cy="22323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684562" y="9301437"/>
            <a:ext cx="1603435" cy="98556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58402" y="1591277"/>
            <a:ext cx="7429499" cy="573404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5345" rIns="0" bIns="0" rtlCol="0">
            <a:spAutoFit/>
          </a:bodyPr>
          <a:lstStyle/>
          <a:p>
            <a:pPr marL="681990">
              <a:lnSpc>
                <a:spcPct val="100000"/>
              </a:lnSpc>
              <a:spcBef>
                <a:spcPts val="130"/>
              </a:spcBef>
            </a:pPr>
            <a:r>
              <a:rPr spc="1015" dirty="0"/>
              <a:t>Key</a:t>
            </a:r>
            <a:r>
              <a:rPr spc="400" dirty="0"/>
              <a:t> </a:t>
            </a:r>
            <a:r>
              <a:rPr spc="730" dirty="0"/>
              <a:t>Insight:</a:t>
            </a:r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20353" y="3125128"/>
            <a:ext cx="95250" cy="952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20353" y="4525303"/>
            <a:ext cx="95250" cy="952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20353" y="5925478"/>
            <a:ext cx="95250" cy="9524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663488" y="2844452"/>
            <a:ext cx="5757545" cy="3759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2860">
              <a:lnSpc>
                <a:spcPct val="139200"/>
              </a:lnSpc>
              <a:spcBef>
                <a:spcPts val="100"/>
              </a:spcBef>
            </a:pPr>
            <a:r>
              <a:rPr sz="2200" spc="-150" dirty="0">
                <a:solidFill>
                  <a:srgbClr val="FFFFFF"/>
                </a:solidFill>
                <a:latin typeface="Arial Black"/>
                <a:cs typeface="Arial Black"/>
              </a:rPr>
              <a:t>Copiers</a:t>
            </a:r>
            <a:r>
              <a:rPr sz="22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95" dirty="0">
                <a:solidFill>
                  <a:srgbClr val="FFFFFF"/>
                </a:solidFill>
                <a:latin typeface="Arial Black"/>
                <a:cs typeface="Arial Black"/>
              </a:rPr>
              <a:t>and</a:t>
            </a:r>
            <a:r>
              <a:rPr sz="2200" spc="-1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40" dirty="0">
                <a:solidFill>
                  <a:srgbClr val="FFFFFF"/>
                </a:solidFill>
                <a:latin typeface="Arial Black"/>
                <a:cs typeface="Arial Black"/>
              </a:rPr>
              <a:t>Phones</a:t>
            </a:r>
            <a:r>
              <a:rPr sz="2200" spc="-130" dirty="0">
                <a:solidFill>
                  <a:srgbClr val="FFFFFF"/>
                </a:solidFill>
                <a:latin typeface="Arial Black"/>
                <a:cs typeface="Arial Black"/>
              </a:rPr>
              <a:t> generate </a:t>
            </a:r>
            <a:r>
              <a:rPr sz="2200" spc="-90" dirty="0">
                <a:solidFill>
                  <a:srgbClr val="FFFFFF"/>
                </a:solidFill>
                <a:latin typeface="Arial Black"/>
                <a:cs typeface="Arial Black"/>
              </a:rPr>
              <a:t>the</a:t>
            </a:r>
            <a:r>
              <a:rPr sz="2200" spc="-1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75" dirty="0">
                <a:solidFill>
                  <a:srgbClr val="FFFFFF"/>
                </a:solidFill>
                <a:latin typeface="Arial Black"/>
                <a:cs typeface="Arial Black"/>
              </a:rPr>
              <a:t>highest </a:t>
            </a:r>
            <a:r>
              <a:rPr sz="2200" spc="-80" dirty="0">
                <a:solidFill>
                  <a:srgbClr val="FFFFFF"/>
                </a:solidFill>
                <a:latin typeface="Arial Black"/>
                <a:cs typeface="Arial Black"/>
              </a:rPr>
              <a:t>profits</a:t>
            </a:r>
            <a:r>
              <a:rPr sz="2200" spc="-1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20" dirty="0">
                <a:solidFill>
                  <a:srgbClr val="FFFFFF"/>
                </a:solidFill>
                <a:latin typeface="Arial Black"/>
                <a:cs typeface="Arial Black"/>
              </a:rPr>
              <a:t>among</a:t>
            </a:r>
            <a:r>
              <a:rPr sz="2200" spc="-1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95" dirty="0">
                <a:solidFill>
                  <a:srgbClr val="FFFFFF"/>
                </a:solidFill>
                <a:latin typeface="Arial Black"/>
                <a:cs typeface="Arial Black"/>
              </a:rPr>
              <a:t>all</a:t>
            </a:r>
            <a:r>
              <a:rPr sz="22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10" dirty="0">
                <a:solidFill>
                  <a:srgbClr val="FFFFFF"/>
                </a:solidFill>
                <a:latin typeface="Arial Black"/>
                <a:cs typeface="Arial Black"/>
              </a:rPr>
              <a:t>sub-</a:t>
            </a:r>
            <a:r>
              <a:rPr sz="2200" spc="-55" dirty="0">
                <a:solidFill>
                  <a:srgbClr val="FFFFFF"/>
                </a:solidFill>
                <a:latin typeface="Arial Black"/>
                <a:cs typeface="Arial Black"/>
              </a:rPr>
              <a:t>categories.</a:t>
            </a:r>
            <a:endParaRPr sz="2200" dirty="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2200" dirty="0">
              <a:latin typeface="Arial Black"/>
              <a:cs typeface="Arial Black"/>
            </a:endParaRPr>
          </a:p>
          <a:p>
            <a:pPr marL="12700" marR="40640">
              <a:lnSpc>
                <a:spcPct val="139200"/>
              </a:lnSpc>
            </a:pPr>
            <a:r>
              <a:rPr sz="2200" spc="-180" dirty="0">
                <a:solidFill>
                  <a:srgbClr val="FFFFFF"/>
                </a:solidFill>
                <a:latin typeface="Arial Black"/>
                <a:cs typeface="Arial Black"/>
              </a:rPr>
              <a:t>Tables</a:t>
            </a:r>
            <a:r>
              <a:rPr sz="2200" spc="-135" dirty="0">
                <a:solidFill>
                  <a:srgbClr val="FFFFFF"/>
                </a:solidFill>
                <a:latin typeface="Arial Black"/>
                <a:cs typeface="Arial Black"/>
              </a:rPr>
              <a:t> consistently</a:t>
            </a:r>
            <a:r>
              <a:rPr sz="2200" spc="-12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55" dirty="0">
                <a:solidFill>
                  <a:srgbClr val="FFFFFF"/>
                </a:solidFill>
                <a:latin typeface="Arial Black"/>
                <a:cs typeface="Arial Black"/>
              </a:rPr>
              <a:t>show</a:t>
            </a:r>
            <a:r>
              <a:rPr sz="2200" spc="-1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30" dirty="0">
                <a:solidFill>
                  <a:srgbClr val="FFFFFF"/>
                </a:solidFill>
                <a:latin typeface="Arial Black"/>
                <a:cs typeface="Arial Black"/>
              </a:rPr>
              <a:t>negative</a:t>
            </a:r>
            <a:r>
              <a:rPr sz="2200" spc="-12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Black"/>
                <a:cs typeface="Arial Black"/>
              </a:rPr>
              <a:t>profit, </a:t>
            </a:r>
            <a:r>
              <a:rPr sz="2200" spc="-114" dirty="0">
                <a:solidFill>
                  <a:srgbClr val="FFFFFF"/>
                </a:solidFill>
                <a:latin typeface="Arial Black"/>
                <a:cs typeface="Arial Black"/>
              </a:rPr>
              <a:t>indicating</a:t>
            </a:r>
            <a:r>
              <a:rPr sz="2200" spc="-1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95" dirty="0">
                <a:solidFill>
                  <a:srgbClr val="FFFFFF"/>
                </a:solidFill>
                <a:latin typeface="Arial Black"/>
                <a:cs typeface="Arial Black"/>
              </a:rPr>
              <a:t>losses</a:t>
            </a:r>
            <a:r>
              <a:rPr sz="2200" spc="-1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30" dirty="0">
                <a:solidFill>
                  <a:srgbClr val="FFFFFF"/>
                </a:solidFill>
                <a:latin typeface="Arial Black"/>
                <a:cs typeface="Arial Black"/>
              </a:rPr>
              <a:t>despite</a:t>
            </a:r>
            <a:r>
              <a:rPr sz="2200" spc="-1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Black"/>
                <a:cs typeface="Arial Black"/>
              </a:rPr>
              <a:t>sales.</a:t>
            </a:r>
            <a:endParaRPr sz="2200" dirty="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2200" dirty="0">
              <a:latin typeface="Arial Black"/>
              <a:cs typeface="Arial Black"/>
            </a:endParaRPr>
          </a:p>
          <a:p>
            <a:pPr marL="12700" marR="5080">
              <a:lnSpc>
                <a:spcPct val="139200"/>
              </a:lnSpc>
            </a:pPr>
            <a:r>
              <a:rPr sz="2200" spc="-125" dirty="0">
                <a:solidFill>
                  <a:srgbClr val="FFFFFF"/>
                </a:solidFill>
                <a:latin typeface="Arial Black"/>
                <a:cs typeface="Arial Black"/>
              </a:rPr>
              <a:t>B</a:t>
            </a:r>
            <a:r>
              <a:rPr lang="en-US" sz="2200" spc="-125" dirty="0">
                <a:solidFill>
                  <a:srgbClr val="FFFFFF"/>
                </a:solidFill>
                <a:latin typeface="Arial Black"/>
                <a:cs typeface="Arial Black"/>
              </a:rPr>
              <a:t>ookcases</a:t>
            </a:r>
            <a:r>
              <a:rPr sz="22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95" dirty="0">
                <a:solidFill>
                  <a:srgbClr val="FFFFFF"/>
                </a:solidFill>
                <a:latin typeface="Arial Black"/>
                <a:cs typeface="Arial Black"/>
              </a:rPr>
              <a:t>and</a:t>
            </a:r>
            <a:r>
              <a:rPr sz="22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50" dirty="0">
                <a:solidFill>
                  <a:srgbClr val="FFFFFF"/>
                </a:solidFill>
                <a:latin typeface="Arial Black"/>
                <a:cs typeface="Arial Black"/>
              </a:rPr>
              <a:t>Supplies</a:t>
            </a:r>
            <a:r>
              <a:rPr sz="2200" spc="-1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50" dirty="0">
                <a:solidFill>
                  <a:srgbClr val="FFFFFF"/>
                </a:solidFill>
                <a:latin typeface="Arial Black"/>
                <a:cs typeface="Arial Black"/>
              </a:rPr>
              <a:t>also</a:t>
            </a:r>
            <a:r>
              <a:rPr sz="22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60" dirty="0">
                <a:solidFill>
                  <a:srgbClr val="FFFFFF"/>
                </a:solidFill>
                <a:latin typeface="Arial Black"/>
                <a:cs typeface="Arial Black"/>
              </a:rPr>
              <a:t>perform</a:t>
            </a:r>
            <a:r>
              <a:rPr sz="2200" spc="-1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45" dirty="0">
                <a:solidFill>
                  <a:srgbClr val="FFFFFF"/>
                </a:solidFill>
                <a:latin typeface="Arial Black"/>
                <a:cs typeface="Arial Black"/>
              </a:rPr>
              <a:t>poorly </a:t>
            </a:r>
            <a:r>
              <a:rPr sz="2200" spc="-55" dirty="0">
                <a:solidFill>
                  <a:srgbClr val="FFFFFF"/>
                </a:solidFill>
                <a:latin typeface="Arial Black"/>
                <a:cs typeface="Arial Black"/>
              </a:rPr>
              <a:t>in</a:t>
            </a:r>
            <a:r>
              <a:rPr sz="2200" spc="-15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05" dirty="0">
                <a:solidFill>
                  <a:srgbClr val="FFFFFF"/>
                </a:solidFill>
                <a:latin typeface="Arial Black"/>
                <a:cs typeface="Arial Black"/>
              </a:rPr>
              <a:t>terms</a:t>
            </a:r>
            <a:r>
              <a:rPr sz="2200" spc="-15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60" dirty="0">
                <a:solidFill>
                  <a:srgbClr val="FFFFFF"/>
                </a:solidFill>
                <a:latin typeface="Arial Black"/>
                <a:cs typeface="Arial Black"/>
              </a:rPr>
              <a:t>of</a:t>
            </a:r>
            <a:r>
              <a:rPr sz="2200" spc="-15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Black"/>
                <a:cs typeface="Arial Black"/>
              </a:rPr>
              <a:t>profitability.</a:t>
            </a:r>
            <a:endParaRPr sz="2200" dirty="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752118" y="7505897"/>
            <a:ext cx="5627370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b="1" spc="180" dirty="0">
                <a:solidFill>
                  <a:srgbClr val="FFFFFF"/>
                </a:solidFill>
                <a:latin typeface="Calibri"/>
                <a:cs typeface="Calibri"/>
              </a:rPr>
              <a:t>5.Sub-</a:t>
            </a:r>
            <a:r>
              <a:rPr sz="1650" b="1" spc="229" dirty="0">
                <a:solidFill>
                  <a:srgbClr val="FFFFFF"/>
                </a:solidFill>
                <a:latin typeface="Calibri"/>
                <a:cs typeface="Calibri"/>
              </a:rPr>
              <a:t>Category</a:t>
            </a:r>
            <a:r>
              <a:rPr sz="1650" b="1" spc="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50" b="1" spc="165" dirty="0">
                <a:solidFill>
                  <a:srgbClr val="FFFFFF"/>
                </a:solidFill>
                <a:latin typeface="Calibri"/>
                <a:cs typeface="Calibri"/>
              </a:rPr>
              <a:t>Profitability</a:t>
            </a:r>
            <a:r>
              <a:rPr sz="1650" b="1" spc="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50" b="1" spc="180" dirty="0">
                <a:solidFill>
                  <a:srgbClr val="FFFFFF"/>
                </a:solidFill>
                <a:latin typeface="Calibri"/>
                <a:cs typeface="Calibri"/>
              </a:rPr>
              <a:t>(Horizontal</a:t>
            </a:r>
            <a:r>
              <a:rPr sz="1650" b="1" spc="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50" b="1" spc="235" dirty="0">
                <a:solidFill>
                  <a:srgbClr val="FFFFFF"/>
                </a:solidFill>
                <a:latin typeface="Calibri"/>
                <a:cs typeface="Calibri"/>
              </a:rPr>
              <a:t>Bar</a:t>
            </a:r>
            <a:r>
              <a:rPr sz="1650" b="1" spc="1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50" b="1" spc="185" dirty="0">
                <a:solidFill>
                  <a:srgbClr val="FFFFFF"/>
                </a:solidFill>
                <a:latin typeface="Calibri"/>
                <a:cs typeface="Calibri"/>
              </a:rPr>
              <a:t>Chart)</a:t>
            </a:r>
            <a:endParaRPr sz="165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36685" y="1041893"/>
            <a:ext cx="631285" cy="4876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6685" y="1041893"/>
            <a:ext cx="631285" cy="48767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17095" y="2854691"/>
            <a:ext cx="223236" cy="22323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71422" y="7910281"/>
            <a:ext cx="345156" cy="34515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684562" y="9301437"/>
            <a:ext cx="1603435" cy="98556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44000" y="1597818"/>
            <a:ext cx="8467724" cy="526732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7745" rIns="0" bIns="0" rtlCol="0">
            <a:spAutoFit/>
          </a:bodyPr>
          <a:lstStyle/>
          <a:p>
            <a:pPr marL="834390">
              <a:lnSpc>
                <a:spcPct val="100000"/>
              </a:lnSpc>
              <a:spcBef>
                <a:spcPts val="130"/>
              </a:spcBef>
            </a:pPr>
            <a:r>
              <a:rPr spc="1015" dirty="0"/>
              <a:t>Key</a:t>
            </a:r>
            <a:r>
              <a:rPr spc="400" dirty="0"/>
              <a:t> </a:t>
            </a:r>
            <a:r>
              <a:rPr spc="730" dirty="0"/>
              <a:t>Insight:</a:t>
            </a:r>
          </a:p>
        </p:txBody>
      </p:sp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41916" y="3255728"/>
            <a:ext cx="95250" cy="952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41916" y="4655902"/>
            <a:ext cx="95250" cy="952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41916" y="6056077"/>
            <a:ext cx="95250" cy="9524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985051" y="2975051"/>
            <a:ext cx="5365115" cy="3759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2069">
              <a:lnSpc>
                <a:spcPct val="139200"/>
              </a:lnSpc>
              <a:spcBef>
                <a:spcPts val="100"/>
              </a:spcBef>
            </a:pPr>
            <a:r>
              <a:rPr sz="2200" spc="-180" dirty="0">
                <a:solidFill>
                  <a:srgbClr val="FFFFFF"/>
                </a:solidFill>
                <a:latin typeface="Arial Black"/>
                <a:cs typeface="Arial Black"/>
              </a:rPr>
              <a:t>The</a:t>
            </a:r>
            <a:r>
              <a:rPr sz="22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25" dirty="0">
                <a:solidFill>
                  <a:srgbClr val="FFFFFF"/>
                </a:solidFill>
                <a:latin typeface="Arial Black"/>
                <a:cs typeface="Arial Black"/>
              </a:rPr>
              <a:t>Consumer</a:t>
            </a:r>
            <a:r>
              <a:rPr sz="2200" spc="-1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45" dirty="0">
                <a:solidFill>
                  <a:srgbClr val="FFFFFF"/>
                </a:solidFill>
                <a:latin typeface="Arial Black"/>
                <a:cs typeface="Arial Black"/>
              </a:rPr>
              <a:t>segment</a:t>
            </a:r>
            <a:r>
              <a:rPr sz="2200" spc="-1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45" dirty="0">
                <a:solidFill>
                  <a:srgbClr val="FFFFFF"/>
                </a:solidFill>
                <a:latin typeface="Arial Black"/>
                <a:cs typeface="Arial Black"/>
              </a:rPr>
              <a:t>generates</a:t>
            </a:r>
            <a:r>
              <a:rPr sz="22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Arial Black"/>
                <a:cs typeface="Arial Black"/>
              </a:rPr>
              <a:t>the </a:t>
            </a:r>
            <a:r>
              <a:rPr sz="2200" spc="-125" dirty="0">
                <a:solidFill>
                  <a:srgbClr val="FFFFFF"/>
                </a:solidFill>
                <a:latin typeface="Arial Black"/>
                <a:cs typeface="Arial Black"/>
              </a:rPr>
              <a:t>highest</a:t>
            </a:r>
            <a:r>
              <a:rPr sz="2200" spc="-15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85" dirty="0">
                <a:solidFill>
                  <a:srgbClr val="FFFFFF"/>
                </a:solidFill>
                <a:latin typeface="Arial Black"/>
                <a:cs typeface="Arial Black"/>
              </a:rPr>
              <a:t>sales</a:t>
            </a:r>
            <a:r>
              <a:rPr sz="2200" spc="-1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Black"/>
                <a:cs typeface="Arial Black"/>
              </a:rPr>
              <a:t>volume.</a:t>
            </a:r>
            <a:endParaRPr sz="22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2200">
              <a:latin typeface="Arial Black"/>
              <a:cs typeface="Arial Black"/>
            </a:endParaRPr>
          </a:p>
          <a:p>
            <a:pPr marL="12700" marR="843915">
              <a:lnSpc>
                <a:spcPct val="139200"/>
              </a:lnSpc>
            </a:pPr>
            <a:r>
              <a:rPr sz="2200" spc="-110" dirty="0">
                <a:solidFill>
                  <a:srgbClr val="FFFFFF"/>
                </a:solidFill>
                <a:latin typeface="Arial Black"/>
                <a:cs typeface="Arial Black"/>
              </a:rPr>
              <a:t>Corporate</a:t>
            </a:r>
            <a:r>
              <a:rPr sz="2200" spc="-1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45" dirty="0">
                <a:solidFill>
                  <a:srgbClr val="FFFFFF"/>
                </a:solidFill>
                <a:latin typeface="Arial Black"/>
                <a:cs typeface="Arial Black"/>
              </a:rPr>
              <a:t>customers</a:t>
            </a:r>
            <a:r>
              <a:rPr sz="2200" spc="-12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70" dirty="0">
                <a:solidFill>
                  <a:srgbClr val="FFFFFF"/>
                </a:solidFill>
                <a:latin typeface="Arial Black"/>
                <a:cs typeface="Arial Black"/>
              </a:rPr>
              <a:t>contribute </a:t>
            </a:r>
            <a:r>
              <a:rPr sz="2200" spc="-100" dirty="0">
                <a:solidFill>
                  <a:srgbClr val="FFFFFF"/>
                </a:solidFill>
                <a:latin typeface="Arial Black"/>
                <a:cs typeface="Arial Black"/>
              </a:rPr>
              <a:t>moderately</a:t>
            </a:r>
            <a:r>
              <a:rPr sz="22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75" dirty="0">
                <a:solidFill>
                  <a:srgbClr val="FFFFFF"/>
                </a:solidFill>
                <a:latin typeface="Arial Black"/>
                <a:cs typeface="Arial Black"/>
              </a:rPr>
              <a:t>to</a:t>
            </a:r>
            <a:r>
              <a:rPr sz="2200" spc="-1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00" dirty="0">
                <a:solidFill>
                  <a:srgbClr val="FFFFFF"/>
                </a:solidFill>
                <a:latin typeface="Arial Black"/>
                <a:cs typeface="Arial Black"/>
              </a:rPr>
              <a:t>overall</a:t>
            </a:r>
            <a:r>
              <a:rPr sz="2200" spc="-1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Black"/>
                <a:cs typeface="Arial Black"/>
              </a:rPr>
              <a:t>sales.</a:t>
            </a:r>
            <a:endParaRPr sz="22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2200">
              <a:latin typeface="Arial Black"/>
              <a:cs typeface="Arial Black"/>
            </a:endParaRPr>
          </a:p>
          <a:p>
            <a:pPr marL="12700" marR="5080">
              <a:lnSpc>
                <a:spcPct val="139200"/>
              </a:lnSpc>
            </a:pPr>
            <a:r>
              <a:rPr sz="2200" spc="-180" dirty="0">
                <a:solidFill>
                  <a:srgbClr val="FFFFFF"/>
                </a:solidFill>
                <a:latin typeface="Arial Black"/>
                <a:cs typeface="Arial Black"/>
              </a:rPr>
              <a:t>The</a:t>
            </a:r>
            <a:r>
              <a:rPr sz="2200" spc="-1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30" dirty="0">
                <a:solidFill>
                  <a:srgbClr val="FFFFFF"/>
                </a:solidFill>
                <a:latin typeface="Arial Black"/>
                <a:cs typeface="Arial Black"/>
              </a:rPr>
              <a:t>Home</a:t>
            </a:r>
            <a:r>
              <a:rPr sz="2200" spc="-1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20" dirty="0">
                <a:solidFill>
                  <a:srgbClr val="FFFFFF"/>
                </a:solidFill>
                <a:latin typeface="Arial Black"/>
                <a:cs typeface="Arial Black"/>
              </a:rPr>
              <a:t>Office</a:t>
            </a:r>
            <a:r>
              <a:rPr sz="2200" spc="-145" dirty="0">
                <a:solidFill>
                  <a:srgbClr val="FFFFFF"/>
                </a:solidFill>
                <a:latin typeface="Arial Black"/>
                <a:cs typeface="Arial Black"/>
              </a:rPr>
              <a:t> segment </a:t>
            </a:r>
            <a:r>
              <a:rPr sz="2200" spc="-180" dirty="0">
                <a:solidFill>
                  <a:srgbClr val="FFFFFF"/>
                </a:solidFill>
                <a:latin typeface="Arial Black"/>
                <a:cs typeface="Arial Black"/>
              </a:rPr>
              <a:t>lags</a:t>
            </a:r>
            <a:r>
              <a:rPr sz="2200" spc="-1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50" dirty="0">
                <a:solidFill>
                  <a:srgbClr val="FFFFFF"/>
                </a:solidFill>
                <a:latin typeface="Arial Black"/>
                <a:cs typeface="Arial Black"/>
              </a:rPr>
              <a:t>behind, </a:t>
            </a:r>
            <a:r>
              <a:rPr sz="2200" spc="-165" dirty="0">
                <a:solidFill>
                  <a:srgbClr val="FFFFFF"/>
                </a:solidFill>
                <a:latin typeface="Arial Black"/>
                <a:cs typeface="Arial Black"/>
              </a:rPr>
              <a:t>suggesting</a:t>
            </a:r>
            <a:r>
              <a:rPr sz="2200" spc="-10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90" dirty="0">
                <a:solidFill>
                  <a:srgbClr val="FFFFFF"/>
                </a:solidFill>
                <a:latin typeface="Arial Black"/>
                <a:cs typeface="Arial Black"/>
              </a:rPr>
              <a:t>untapped</a:t>
            </a:r>
            <a:r>
              <a:rPr sz="2200" spc="-10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Black"/>
                <a:cs typeface="Arial Black"/>
              </a:rPr>
              <a:t>potential.</a:t>
            </a:r>
            <a:endParaRPr sz="2200">
              <a:latin typeface="Arial Black"/>
              <a:cs typeface="Arial Black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954562" y="6949998"/>
            <a:ext cx="6305550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50" b="1" spc="235" dirty="0">
                <a:solidFill>
                  <a:srgbClr val="FFFFFF"/>
                </a:solidFill>
                <a:latin typeface="Calibri"/>
                <a:cs typeface="Calibri"/>
              </a:rPr>
              <a:t>6.Sales</a:t>
            </a:r>
            <a:r>
              <a:rPr sz="2250" b="1" spc="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50" b="1" spc="32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2250" b="1" spc="1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50" b="1" spc="325" dirty="0">
                <a:solidFill>
                  <a:srgbClr val="FFFFFF"/>
                </a:solidFill>
                <a:latin typeface="Calibri"/>
                <a:cs typeface="Calibri"/>
              </a:rPr>
              <a:t>Customer</a:t>
            </a:r>
            <a:r>
              <a:rPr sz="2250" b="1" spc="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50" b="1" spc="370" dirty="0">
                <a:solidFill>
                  <a:srgbClr val="FFFFFF"/>
                </a:solidFill>
                <a:latin typeface="Calibri"/>
                <a:cs typeface="Calibri"/>
              </a:rPr>
              <a:t>Segment</a:t>
            </a:r>
            <a:r>
              <a:rPr sz="2250" b="1" spc="1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50" b="1" spc="260" dirty="0">
                <a:solidFill>
                  <a:srgbClr val="FFFFFF"/>
                </a:solidFill>
                <a:latin typeface="Calibri"/>
                <a:cs typeface="Calibri"/>
              </a:rPr>
              <a:t>(Bar</a:t>
            </a:r>
            <a:r>
              <a:rPr sz="2250" b="1" spc="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50" b="1" spc="254" dirty="0">
                <a:solidFill>
                  <a:srgbClr val="FFFFFF"/>
                </a:solidFill>
                <a:latin typeface="Calibri"/>
                <a:cs typeface="Calibri"/>
              </a:rPr>
              <a:t>Chart)</a:t>
            </a:r>
            <a:endParaRPr sz="2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76A79-30EA-4949-A2AF-12D8D3466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6D89298E-DDA2-D374-DFC2-6124D797F71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6685" y="1041893"/>
            <a:ext cx="631285" cy="487679"/>
          </a:xfrm>
          <a:prstGeom prst="rect">
            <a:avLst/>
          </a:prstGeom>
        </p:spPr>
      </p:pic>
      <p:pic>
        <p:nvPicPr>
          <p:cNvPr id="3" name="object 3">
            <a:extLst>
              <a:ext uri="{FF2B5EF4-FFF2-40B4-BE49-F238E27FC236}">
                <a16:creationId xmlns:a16="http://schemas.microsoft.com/office/drawing/2014/main" id="{437E0075-F201-DCFB-99BB-DEAA02EAACE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374375" y="805620"/>
            <a:ext cx="223236" cy="223236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A50818CD-5D44-580E-A641-D1EC9AB640C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612825" y="3436620"/>
            <a:ext cx="345156" cy="345156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38004369-8313-C855-F6A4-E70AEB68671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9301437"/>
            <a:ext cx="1679443" cy="985562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54452446-D6F9-AC37-F9B9-2383092D6E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676400" y="1477346"/>
            <a:ext cx="14173200" cy="1323545"/>
          </a:xfrm>
          <a:prstGeom prst="rect">
            <a:avLst/>
          </a:prstGeom>
        </p:spPr>
        <p:txBody>
          <a:bodyPr vert="horz" wrap="square" lIns="0" tIns="251565" rIns="0" bIns="0" rtlCol="0">
            <a:spAutoFit/>
          </a:bodyPr>
          <a:lstStyle/>
          <a:p>
            <a:pPr marL="4027170">
              <a:lnSpc>
                <a:spcPct val="100000"/>
              </a:lnSpc>
              <a:spcBef>
                <a:spcPts val="130"/>
              </a:spcBef>
            </a:pPr>
            <a:r>
              <a:rPr spc="900" dirty="0"/>
              <a:t>Conclusion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D394EC1-2966-D49F-87B3-6E8B18E4E3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330019" y="3276418"/>
            <a:ext cx="12846418" cy="37341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9200"/>
              </a:lnSpc>
              <a:spcBef>
                <a:spcPts val="100"/>
              </a:spcBef>
            </a:pPr>
            <a:r>
              <a:rPr spc="-85" dirty="0"/>
              <a:t>In</a:t>
            </a:r>
            <a:r>
              <a:rPr spc="-125" dirty="0"/>
              <a:t> </a:t>
            </a:r>
            <a:r>
              <a:rPr spc="-145" dirty="0"/>
              <a:t>conclusion,</a:t>
            </a:r>
            <a:r>
              <a:rPr spc="-120" dirty="0"/>
              <a:t> </a:t>
            </a:r>
            <a:r>
              <a:rPr spc="-90" dirty="0"/>
              <a:t>the</a:t>
            </a:r>
            <a:r>
              <a:rPr spc="-125" dirty="0"/>
              <a:t> </a:t>
            </a:r>
            <a:r>
              <a:rPr spc="-130" dirty="0"/>
              <a:t>Superstore</a:t>
            </a:r>
            <a:r>
              <a:rPr spc="-120" dirty="0"/>
              <a:t> </a:t>
            </a:r>
            <a:r>
              <a:rPr spc="-185" dirty="0"/>
              <a:t>sales</a:t>
            </a:r>
            <a:r>
              <a:rPr spc="-125" dirty="0"/>
              <a:t> </a:t>
            </a:r>
            <a:r>
              <a:rPr spc="-145" dirty="0"/>
              <a:t>analysis</a:t>
            </a:r>
            <a:r>
              <a:rPr spc="-120" dirty="0"/>
              <a:t> uncovered</a:t>
            </a:r>
            <a:r>
              <a:rPr spc="-125" dirty="0"/>
              <a:t> </a:t>
            </a:r>
            <a:r>
              <a:rPr spc="-10" dirty="0"/>
              <a:t>valuable </a:t>
            </a:r>
            <a:r>
              <a:rPr spc="-130" dirty="0"/>
              <a:t>insights</a:t>
            </a:r>
            <a:r>
              <a:rPr spc="-135" dirty="0"/>
              <a:t> </a:t>
            </a:r>
            <a:r>
              <a:rPr spc="-60" dirty="0"/>
              <a:t>into</a:t>
            </a:r>
            <a:r>
              <a:rPr spc="-130" dirty="0"/>
              <a:t> </a:t>
            </a:r>
            <a:r>
              <a:rPr spc="-90" dirty="0"/>
              <a:t>the</a:t>
            </a:r>
            <a:r>
              <a:rPr spc="-130" dirty="0"/>
              <a:t> </a:t>
            </a:r>
            <a:r>
              <a:rPr spc="-145" dirty="0"/>
              <a:t>company’s</a:t>
            </a:r>
            <a:r>
              <a:rPr spc="-130" dirty="0"/>
              <a:t> </a:t>
            </a:r>
            <a:r>
              <a:rPr spc="-105" dirty="0"/>
              <a:t>performance</a:t>
            </a:r>
            <a:r>
              <a:rPr spc="-130" dirty="0"/>
              <a:t> </a:t>
            </a:r>
            <a:r>
              <a:rPr spc="-190" dirty="0"/>
              <a:t>across</a:t>
            </a:r>
            <a:r>
              <a:rPr spc="-130" dirty="0"/>
              <a:t> </a:t>
            </a:r>
            <a:r>
              <a:rPr spc="-10" dirty="0"/>
              <a:t>regions, </a:t>
            </a:r>
            <a:r>
              <a:rPr spc="-155" dirty="0"/>
              <a:t>categories,</a:t>
            </a:r>
            <a:r>
              <a:rPr spc="-135" dirty="0"/>
              <a:t> </a:t>
            </a:r>
            <a:r>
              <a:rPr spc="-95" dirty="0"/>
              <a:t>and</a:t>
            </a:r>
            <a:r>
              <a:rPr spc="-135" dirty="0"/>
              <a:t> </a:t>
            </a:r>
            <a:r>
              <a:rPr spc="-130" dirty="0"/>
              <a:t>customer</a:t>
            </a:r>
            <a:r>
              <a:rPr spc="-135" dirty="0"/>
              <a:t> </a:t>
            </a:r>
            <a:r>
              <a:rPr spc="-155" dirty="0"/>
              <a:t>segments.</a:t>
            </a:r>
            <a:r>
              <a:rPr spc="-135" dirty="0"/>
              <a:t> </a:t>
            </a:r>
            <a:r>
              <a:rPr spc="-180" dirty="0"/>
              <a:t>The</a:t>
            </a:r>
            <a:r>
              <a:rPr spc="-135" dirty="0"/>
              <a:t> </a:t>
            </a:r>
            <a:r>
              <a:rPr spc="-105" dirty="0"/>
              <a:t>data</a:t>
            </a:r>
            <a:r>
              <a:rPr spc="-135" dirty="0"/>
              <a:t> </a:t>
            </a:r>
            <a:r>
              <a:rPr spc="-180" dirty="0"/>
              <a:t>shows</a:t>
            </a:r>
            <a:r>
              <a:rPr spc="-135" dirty="0"/>
              <a:t> </a:t>
            </a:r>
            <a:r>
              <a:rPr spc="-20" dirty="0"/>
              <a:t>that </a:t>
            </a:r>
            <a:r>
              <a:rPr spc="-130" dirty="0"/>
              <a:t>technology</a:t>
            </a:r>
            <a:r>
              <a:rPr spc="-145" dirty="0"/>
              <a:t> </a:t>
            </a:r>
            <a:r>
              <a:rPr spc="-95" dirty="0"/>
              <a:t>and</a:t>
            </a:r>
            <a:r>
              <a:rPr spc="-140" dirty="0"/>
              <a:t> </a:t>
            </a:r>
            <a:r>
              <a:rPr spc="-120" dirty="0"/>
              <a:t>office</a:t>
            </a:r>
            <a:r>
              <a:rPr spc="-140" dirty="0"/>
              <a:t> </a:t>
            </a:r>
            <a:r>
              <a:rPr spc="-85" dirty="0"/>
              <a:t>equipment</a:t>
            </a:r>
            <a:r>
              <a:rPr spc="-140" dirty="0"/>
              <a:t> </a:t>
            </a:r>
            <a:r>
              <a:rPr spc="-105" dirty="0"/>
              <a:t>are</a:t>
            </a:r>
            <a:r>
              <a:rPr spc="-140" dirty="0"/>
              <a:t> </a:t>
            </a:r>
            <a:r>
              <a:rPr spc="-90" dirty="0"/>
              <a:t>the</a:t>
            </a:r>
            <a:r>
              <a:rPr spc="-140" dirty="0"/>
              <a:t> </a:t>
            </a:r>
            <a:r>
              <a:rPr spc="-114" dirty="0"/>
              <a:t>most</a:t>
            </a:r>
            <a:r>
              <a:rPr spc="-145" dirty="0"/>
              <a:t> </a:t>
            </a:r>
            <a:r>
              <a:rPr spc="-10" dirty="0"/>
              <a:t>profitable </a:t>
            </a:r>
            <a:r>
              <a:rPr spc="-100" dirty="0"/>
              <a:t>product</a:t>
            </a:r>
            <a:r>
              <a:rPr spc="-140" dirty="0"/>
              <a:t> </a:t>
            </a:r>
            <a:r>
              <a:rPr spc="-125" dirty="0"/>
              <a:t>lines,</a:t>
            </a:r>
            <a:r>
              <a:rPr spc="-140" dirty="0"/>
              <a:t> </a:t>
            </a:r>
            <a:r>
              <a:rPr spc="-114" dirty="0"/>
              <a:t>while</a:t>
            </a:r>
            <a:r>
              <a:rPr spc="-135" dirty="0"/>
              <a:t> </a:t>
            </a:r>
            <a:r>
              <a:rPr spc="-160" dirty="0"/>
              <a:t>categories</a:t>
            </a:r>
            <a:r>
              <a:rPr spc="-140" dirty="0"/>
              <a:t> </a:t>
            </a:r>
            <a:r>
              <a:rPr spc="-105" dirty="0"/>
              <a:t>like</a:t>
            </a:r>
            <a:r>
              <a:rPr spc="-135" dirty="0"/>
              <a:t> </a:t>
            </a:r>
            <a:r>
              <a:rPr spc="-130" dirty="0"/>
              <a:t>tables</a:t>
            </a:r>
            <a:r>
              <a:rPr spc="-140" dirty="0"/>
              <a:t> </a:t>
            </a:r>
            <a:r>
              <a:rPr spc="-95" dirty="0"/>
              <a:t>and</a:t>
            </a:r>
            <a:r>
              <a:rPr spc="-135" dirty="0"/>
              <a:t> </a:t>
            </a:r>
            <a:r>
              <a:rPr spc="-100" dirty="0"/>
              <a:t>b</a:t>
            </a:r>
            <a:r>
              <a:rPr lang="en-US" spc="-100" dirty="0"/>
              <a:t>ookcases</a:t>
            </a:r>
            <a:r>
              <a:rPr spc="-140" dirty="0"/>
              <a:t> </a:t>
            </a:r>
            <a:r>
              <a:rPr spc="-10" dirty="0"/>
              <a:t>often </a:t>
            </a:r>
            <a:r>
              <a:rPr spc="-95" dirty="0"/>
              <a:t>incur</a:t>
            </a:r>
            <a:r>
              <a:rPr spc="-145" dirty="0"/>
              <a:t> </a:t>
            </a:r>
            <a:r>
              <a:rPr spc="-185" dirty="0"/>
              <a:t>losses.</a:t>
            </a:r>
            <a:r>
              <a:rPr spc="-145" dirty="0"/>
              <a:t> </a:t>
            </a:r>
            <a:r>
              <a:rPr spc="-210" dirty="0"/>
              <a:t>Sales</a:t>
            </a:r>
            <a:r>
              <a:rPr spc="-145" dirty="0"/>
              <a:t> </a:t>
            </a:r>
            <a:r>
              <a:rPr spc="-105" dirty="0"/>
              <a:t>are</a:t>
            </a:r>
            <a:r>
              <a:rPr spc="-145" dirty="0"/>
              <a:t> </a:t>
            </a:r>
            <a:r>
              <a:rPr spc="-125" dirty="0"/>
              <a:t>highest</a:t>
            </a:r>
            <a:r>
              <a:rPr spc="-140" dirty="0"/>
              <a:t> </a:t>
            </a:r>
            <a:r>
              <a:rPr spc="-55" dirty="0"/>
              <a:t>in</a:t>
            </a:r>
            <a:r>
              <a:rPr spc="-145" dirty="0"/>
              <a:t> </a:t>
            </a:r>
            <a:r>
              <a:rPr spc="-90" dirty="0"/>
              <a:t>the</a:t>
            </a:r>
            <a:r>
              <a:rPr spc="-145" dirty="0"/>
              <a:t> West </a:t>
            </a:r>
            <a:r>
              <a:rPr spc="-105" dirty="0"/>
              <a:t>region</a:t>
            </a:r>
            <a:r>
              <a:rPr spc="-145" dirty="0"/>
              <a:t> </a:t>
            </a:r>
            <a:r>
              <a:rPr spc="-95" dirty="0"/>
              <a:t>and</a:t>
            </a:r>
            <a:r>
              <a:rPr spc="-140" dirty="0"/>
              <a:t> </a:t>
            </a:r>
            <a:r>
              <a:rPr spc="-10" dirty="0"/>
              <a:t>among </a:t>
            </a:r>
            <a:r>
              <a:rPr spc="-125" dirty="0"/>
              <a:t>Consumer</a:t>
            </a:r>
            <a:r>
              <a:rPr spc="-130" dirty="0"/>
              <a:t> </a:t>
            </a:r>
            <a:r>
              <a:rPr spc="-140" dirty="0"/>
              <a:t>customers,</a:t>
            </a:r>
            <a:r>
              <a:rPr spc="-130" dirty="0"/>
              <a:t> </a:t>
            </a:r>
            <a:r>
              <a:rPr spc="-114" dirty="0"/>
              <a:t>indicating</a:t>
            </a:r>
            <a:r>
              <a:rPr spc="-130" dirty="0"/>
              <a:t> </a:t>
            </a:r>
            <a:r>
              <a:rPr spc="-114" dirty="0"/>
              <a:t>strong</a:t>
            </a:r>
            <a:r>
              <a:rPr spc="-130" dirty="0"/>
              <a:t> </a:t>
            </a:r>
            <a:r>
              <a:rPr spc="-90" dirty="0"/>
              <a:t>market</a:t>
            </a:r>
            <a:r>
              <a:rPr spc="-130" dirty="0"/>
              <a:t> </a:t>
            </a:r>
            <a:r>
              <a:rPr spc="-160" dirty="0"/>
              <a:t>presence</a:t>
            </a:r>
            <a:r>
              <a:rPr spc="-130" dirty="0"/>
              <a:t> </a:t>
            </a:r>
            <a:r>
              <a:rPr spc="-25" dirty="0"/>
              <a:t>in </a:t>
            </a:r>
            <a:r>
              <a:rPr spc="-125" dirty="0"/>
              <a:t>those</a:t>
            </a:r>
            <a:r>
              <a:rPr spc="-145" dirty="0"/>
              <a:t> areas.</a:t>
            </a:r>
            <a:r>
              <a:rPr spc="-140" dirty="0"/>
              <a:t> Conversely, </a:t>
            </a:r>
            <a:r>
              <a:rPr spc="-90" dirty="0"/>
              <a:t>the</a:t>
            </a:r>
            <a:r>
              <a:rPr spc="-140" dirty="0"/>
              <a:t> </a:t>
            </a:r>
            <a:r>
              <a:rPr spc="-120" dirty="0"/>
              <a:t>South</a:t>
            </a:r>
            <a:r>
              <a:rPr spc="-140" dirty="0"/>
              <a:t> </a:t>
            </a:r>
            <a:r>
              <a:rPr spc="-105" dirty="0"/>
              <a:t>region</a:t>
            </a:r>
            <a:r>
              <a:rPr spc="-140" dirty="0"/>
              <a:t> </a:t>
            </a:r>
            <a:r>
              <a:rPr spc="-95" dirty="0"/>
              <a:t>and</a:t>
            </a:r>
            <a:r>
              <a:rPr spc="-140" dirty="0"/>
              <a:t> </a:t>
            </a:r>
            <a:r>
              <a:rPr spc="-130" dirty="0"/>
              <a:t>Home</a:t>
            </a:r>
            <a:r>
              <a:rPr spc="-140" dirty="0"/>
              <a:t> </a:t>
            </a:r>
            <a:r>
              <a:rPr spc="-10" dirty="0"/>
              <a:t>Office </a:t>
            </a:r>
            <a:r>
              <a:rPr spc="-145" dirty="0"/>
              <a:t>segment</a:t>
            </a:r>
            <a:r>
              <a:rPr spc="-125" dirty="0"/>
              <a:t> </a:t>
            </a:r>
            <a:r>
              <a:rPr spc="-155" dirty="0"/>
              <a:t>show</a:t>
            </a:r>
            <a:r>
              <a:rPr spc="-125" dirty="0"/>
              <a:t> </a:t>
            </a:r>
            <a:r>
              <a:rPr spc="-114" dirty="0"/>
              <a:t>lower</a:t>
            </a:r>
            <a:r>
              <a:rPr spc="-120" dirty="0"/>
              <a:t> </a:t>
            </a:r>
            <a:r>
              <a:rPr spc="-175" dirty="0"/>
              <a:t>sales,</a:t>
            </a:r>
            <a:r>
              <a:rPr spc="-125" dirty="0"/>
              <a:t> </a:t>
            </a:r>
            <a:r>
              <a:rPr spc="-165" dirty="0"/>
              <a:t>suggesting</a:t>
            </a:r>
            <a:r>
              <a:rPr spc="-120" dirty="0"/>
              <a:t> </a:t>
            </a:r>
            <a:r>
              <a:rPr spc="-90" dirty="0"/>
              <a:t>opportunities</a:t>
            </a:r>
            <a:r>
              <a:rPr spc="-125" dirty="0"/>
              <a:t> </a:t>
            </a:r>
            <a:r>
              <a:rPr spc="-40" dirty="0"/>
              <a:t>for</a:t>
            </a:r>
            <a:r>
              <a:rPr spc="-120" dirty="0"/>
              <a:t> </a:t>
            </a:r>
            <a:r>
              <a:rPr spc="-35" dirty="0"/>
              <a:t>growth. </a:t>
            </a:r>
            <a:r>
              <a:rPr spc="-100" dirty="0"/>
              <a:t>Overall,</a:t>
            </a:r>
            <a:r>
              <a:rPr spc="-125" dirty="0"/>
              <a:t> </a:t>
            </a:r>
            <a:r>
              <a:rPr spc="-100" dirty="0"/>
              <a:t>this</a:t>
            </a:r>
            <a:r>
              <a:rPr spc="-125" dirty="0"/>
              <a:t> </a:t>
            </a:r>
            <a:r>
              <a:rPr spc="-145" dirty="0"/>
              <a:t>analysis</a:t>
            </a:r>
            <a:r>
              <a:rPr spc="-120" dirty="0"/>
              <a:t> </a:t>
            </a:r>
            <a:r>
              <a:rPr spc="-114" dirty="0"/>
              <a:t>highlights</a:t>
            </a:r>
            <a:r>
              <a:rPr spc="-125" dirty="0"/>
              <a:t> </a:t>
            </a:r>
            <a:r>
              <a:rPr spc="-90" dirty="0"/>
              <a:t>the</a:t>
            </a:r>
            <a:r>
              <a:rPr spc="-125" dirty="0"/>
              <a:t> </a:t>
            </a:r>
            <a:r>
              <a:rPr spc="-110" dirty="0"/>
              <a:t>importance</a:t>
            </a:r>
            <a:r>
              <a:rPr spc="-120" dirty="0"/>
              <a:t> </a:t>
            </a:r>
            <a:r>
              <a:rPr spc="-60" dirty="0"/>
              <a:t>of</a:t>
            </a:r>
            <a:r>
              <a:rPr spc="-125" dirty="0"/>
              <a:t> </a:t>
            </a:r>
            <a:r>
              <a:rPr spc="-10" dirty="0"/>
              <a:t>leveraging </a:t>
            </a:r>
            <a:r>
              <a:rPr spc="-105" dirty="0"/>
              <a:t>data</a:t>
            </a:r>
            <a:r>
              <a:rPr spc="-135" dirty="0"/>
              <a:t> </a:t>
            </a:r>
            <a:r>
              <a:rPr spc="-75" dirty="0"/>
              <a:t>to</a:t>
            </a:r>
            <a:r>
              <a:rPr spc="-130" dirty="0"/>
              <a:t> </a:t>
            </a:r>
            <a:r>
              <a:rPr spc="-120" dirty="0"/>
              <a:t>guide</a:t>
            </a:r>
            <a:r>
              <a:rPr spc="-135" dirty="0"/>
              <a:t> </a:t>
            </a:r>
            <a:r>
              <a:rPr spc="-150" dirty="0"/>
              <a:t>strategic</a:t>
            </a:r>
            <a:r>
              <a:rPr spc="-130" dirty="0"/>
              <a:t> </a:t>
            </a:r>
            <a:r>
              <a:rPr spc="-160" dirty="0"/>
              <a:t>decisions</a:t>
            </a:r>
            <a:r>
              <a:rPr spc="-130" dirty="0"/>
              <a:t> </a:t>
            </a:r>
            <a:r>
              <a:rPr spc="-55" dirty="0"/>
              <a:t>in</a:t>
            </a:r>
            <a:r>
              <a:rPr spc="-135" dirty="0"/>
              <a:t> </a:t>
            </a:r>
            <a:r>
              <a:rPr spc="-100" dirty="0"/>
              <a:t>marketing,</a:t>
            </a:r>
            <a:r>
              <a:rPr spc="-130" dirty="0"/>
              <a:t> </a:t>
            </a:r>
            <a:r>
              <a:rPr spc="-85" dirty="0"/>
              <a:t>inventory,</a:t>
            </a:r>
            <a:r>
              <a:rPr spc="-130" dirty="0"/>
              <a:t> </a:t>
            </a:r>
            <a:r>
              <a:rPr spc="-25" dirty="0"/>
              <a:t>and </a:t>
            </a:r>
            <a:r>
              <a:rPr spc="-110" dirty="0"/>
              <a:t>regional</a:t>
            </a:r>
            <a:r>
              <a:rPr spc="-120" dirty="0"/>
              <a:t> </a:t>
            </a:r>
            <a:r>
              <a:rPr spc="-25" dirty="0"/>
              <a:t>expansion.</a:t>
            </a:r>
          </a:p>
        </p:txBody>
      </p:sp>
    </p:spTree>
    <p:extLst>
      <p:ext uri="{BB962C8B-B14F-4D97-AF65-F5344CB8AC3E}">
        <p14:creationId xmlns:p14="http://schemas.microsoft.com/office/powerpoint/2010/main" val="3511734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7995" y="2441129"/>
            <a:ext cx="11933555" cy="3905250"/>
          </a:xfrm>
          <a:prstGeom prst="rect">
            <a:avLst/>
          </a:prstGeom>
        </p:spPr>
        <p:txBody>
          <a:bodyPr vert="horz" wrap="square" lIns="0" tIns="201295" rIns="0" bIns="0" rtlCol="0">
            <a:spAutoFit/>
          </a:bodyPr>
          <a:lstStyle/>
          <a:p>
            <a:pPr marL="12700" marR="5080">
              <a:lnSpc>
                <a:spcPts val="14580"/>
              </a:lnSpc>
              <a:spcBef>
                <a:spcPts val="1585"/>
              </a:spcBef>
            </a:pPr>
            <a:r>
              <a:rPr sz="13300" spc="1910" dirty="0"/>
              <a:t>Thank</a:t>
            </a:r>
            <a:r>
              <a:rPr sz="13300" spc="765" dirty="0"/>
              <a:t> </a:t>
            </a:r>
            <a:r>
              <a:rPr sz="13300" spc="1825" dirty="0"/>
              <a:t>You </a:t>
            </a:r>
            <a:r>
              <a:rPr sz="13300" spc="1620" dirty="0"/>
              <a:t>For</a:t>
            </a:r>
            <a:r>
              <a:rPr sz="13300" spc="755" dirty="0"/>
              <a:t> </a:t>
            </a:r>
            <a:r>
              <a:rPr sz="13300" spc="1475" dirty="0"/>
              <a:t>Attention</a:t>
            </a:r>
            <a:endParaRPr sz="133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82628" y="9054459"/>
            <a:ext cx="203839" cy="20383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836530" y="3923285"/>
            <a:ext cx="412261" cy="41226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8594704"/>
            <a:ext cx="1679443" cy="16922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Words>522</Words>
  <Application>Microsoft Office PowerPoint</Application>
  <PresentationFormat>Custom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Calibri</vt:lpstr>
      <vt:lpstr>Office Theme</vt:lpstr>
      <vt:lpstr>Superstore Business Intelligence Analysis Using MySQL &amp; Python</vt:lpstr>
      <vt:lpstr>Introduction:</vt:lpstr>
      <vt:lpstr>Key Insight:</vt:lpstr>
      <vt:lpstr>Key Insight:</vt:lpstr>
      <vt:lpstr>Key Insight:</vt:lpstr>
      <vt:lpstr>Key Insight:</vt:lpstr>
      <vt:lpstr>Key Insight:</vt:lpstr>
      <vt:lpstr>Key Insight:</vt:lpstr>
      <vt:lpstr>Conclusion</vt:lpstr>
      <vt:lpstr>Thank You For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Modern Data Analysis Presentation</dc:title>
  <dc:creator>Moumita Majumder</dc:creator>
  <cp:keywords>DAGnoJRR7Rs,BAF1wrcTnqY,0</cp:keywords>
  <cp:lastModifiedBy>Himanshu Patle</cp:lastModifiedBy>
  <cp:revision>7</cp:revision>
  <dcterms:created xsi:type="dcterms:W3CDTF">2025-06-29T08:30:24Z</dcterms:created>
  <dcterms:modified xsi:type="dcterms:W3CDTF">2026-02-20T10:03:45Z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2025-06-28T00:00:00Z</vt:filetime>
  </property>
  <property fmtid="{D5CDD505-2E9C-101B-9397-08002B2CF9AE}" pid="3" name="Creator">
    <vt:lpwstr>Canva</vt:lpwstr>
  </property>
  <property fmtid="{D5CDD505-2E9C-101B-9397-08002B2CF9AE}" pid="4" name="LastSaved">
    <vt:filetime>2025-06-29T00:00:00Z</vt:filetime>
  </property>
  <property fmtid="{D5CDD505-2E9C-101B-9397-08002B2CF9AE}" pid="5" name="Producer">
    <vt:lpwstr>Canva</vt:lpwstr>
  </property>
</Properties>
</file>